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61" r:id="rId4"/>
    <p:sldId id="259" r:id="rId5"/>
    <p:sldId id="263" r:id="rId6"/>
    <p:sldId id="289" r:id="rId7"/>
    <p:sldId id="262" r:id="rId8"/>
    <p:sldId id="290" r:id="rId9"/>
    <p:sldId id="265" r:id="rId10"/>
    <p:sldId id="264" r:id="rId11"/>
    <p:sldId id="291" r:id="rId12"/>
    <p:sldId id="296" r:id="rId13"/>
    <p:sldId id="298" r:id="rId14"/>
    <p:sldId id="299" r:id="rId15"/>
    <p:sldId id="297" r:id="rId16"/>
    <p:sldId id="292" r:id="rId17"/>
    <p:sldId id="267" r:id="rId18"/>
    <p:sldId id="268" r:id="rId19"/>
    <p:sldId id="269" r:id="rId20"/>
    <p:sldId id="300" r:id="rId21"/>
    <p:sldId id="301" r:id="rId22"/>
    <p:sldId id="302" r:id="rId23"/>
    <p:sldId id="303" r:id="rId24"/>
    <p:sldId id="306" r:id="rId25"/>
    <p:sldId id="307" r:id="rId26"/>
    <p:sldId id="308" r:id="rId27"/>
    <p:sldId id="304" r:id="rId28"/>
    <p:sldId id="293" r:id="rId29"/>
    <p:sldId id="270" r:id="rId30"/>
    <p:sldId id="271" r:id="rId31"/>
    <p:sldId id="272" r:id="rId32"/>
    <p:sldId id="305" r:id="rId33"/>
    <p:sldId id="309" r:id="rId34"/>
    <p:sldId id="310" r:id="rId35"/>
    <p:sldId id="311" r:id="rId36"/>
    <p:sldId id="294" r:id="rId37"/>
    <p:sldId id="275" r:id="rId38"/>
    <p:sldId id="276" r:id="rId39"/>
    <p:sldId id="277" r:id="rId40"/>
    <p:sldId id="312" r:id="rId41"/>
    <p:sldId id="295" r:id="rId42"/>
    <p:sldId id="284" r:id="rId43"/>
    <p:sldId id="285" r:id="rId44"/>
    <p:sldId id="286" r:id="rId45"/>
    <p:sldId id="288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45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39" y="355138"/>
            <a:ext cx="5670959" cy="11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1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6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358827"/>
            <a:ext cx="46736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0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9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4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6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7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0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4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5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92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40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7318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59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31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62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C467-4FA9-4861-89FB-51BFC03250B9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A5E0-062C-4FB0-9305-1F4880504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519C-8A61-4C39-AD11-C38852A0EFFF}" type="datetimeFigureOut">
              <a:rPr lang="en-US" smtClean="0"/>
              <a:t>4/10/16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200F1C7-3D5E-42FF-94A9-DDF120CEC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hyperlink" Target="http://aka.ms/thereleasepipelinemode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8.jpeg"/><Relationship Id="rId3" Type="http://schemas.openxmlformats.org/officeDocument/2006/relationships/hyperlink" Target="http://aka.ms/JEA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2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2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4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2"/>
                </a:solidFill>
              </a:rPr>
              <a:t>The Release Pipeline </a:t>
            </a:r>
            <a:r>
              <a:rPr lang="en-US" sz="4800" dirty="0" smtClean="0">
                <a:solidFill>
                  <a:schemeClr val="accent2"/>
                </a:solidFill>
              </a:rPr>
              <a:t>Model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Applied to Managing Windows Server and Microsoft Cloud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6" t="6362" r="38955" b="5581"/>
          <a:stretch/>
        </p:blipFill>
        <p:spPr bwMode="auto">
          <a:xfrm>
            <a:off x="9806940" y="0"/>
            <a:ext cx="2385060" cy="35692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4460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</a:extLst>
          </a:blip>
          <a:srcRect l="35600" r="33196"/>
          <a:stretch/>
        </p:blipFill>
        <p:spPr>
          <a:xfrm>
            <a:off x="20" y="10"/>
            <a:ext cx="3754399" cy="685799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278" y="786923"/>
            <a:ext cx="6586491" cy="873711"/>
          </a:xfrm>
        </p:spPr>
        <p:txBody>
          <a:bodyPr anchor="b">
            <a:normAutofit/>
          </a:bodyPr>
          <a:lstStyle/>
          <a:p>
            <a:r>
              <a:rPr lang="en-US" dirty="0" err="1"/>
              <a:t>whoami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3280" y="1975945"/>
            <a:ext cx="6586489" cy="42163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Michael Greene</a:t>
            </a:r>
          </a:p>
          <a:p>
            <a:pPr marL="0" indent="0">
              <a:buNone/>
            </a:pPr>
            <a:r>
              <a:rPr lang="en-US" sz="2000" dirty="0"/>
              <a:t>Principal Program Manager</a:t>
            </a:r>
          </a:p>
          <a:p>
            <a:pPr marL="0" indent="0">
              <a:buNone/>
            </a:pPr>
            <a:r>
              <a:rPr lang="en-US" sz="2000" dirty="0"/>
              <a:t>Enterprise Cloud Engineering CAT </a:t>
            </a:r>
            <a:r>
              <a:rPr lang="en-US" sz="2000" dirty="0" smtClean="0"/>
              <a:t>Team</a:t>
            </a:r>
          </a:p>
          <a:p>
            <a:pPr marL="0" indent="0">
              <a:buNone/>
            </a:pPr>
            <a:r>
              <a:rPr lang="en-US" sz="2000" dirty="0" smtClean="0"/>
              <a:t>(Customer Feedback, Technical Enablement)</a:t>
            </a:r>
          </a:p>
          <a:p>
            <a:pPr marL="0" indent="0">
              <a:buNone/>
            </a:pPr>
            <a:r>
              <a:rPr lang="en-US" sz="2000" dirty="0" smtClean="0"/>
              <a:t>CAT PM for PowerShell &amp; DevOps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12 </a:t>
            </a:r>
            <a:r>
              <a:rPr lang="en-US" sz="2000" dirty="0" err="1"/>
              <a:t>yrs</a:t>
            </a:r>
            <a:r>
              <a:rPr lang="en-US" sz="2000" dirty="0"/>
              <a:t> at Microsoft</a:t>
            </a:r>
          </a:p>
          <a:p>
            <a:pPr marL="0" indent="0">
              <a:buNone/>
            </a:pPr>
            <a:r>
              <a:rPr lang="en-US" sz="2000" dirty="0"/>
              <a:t>3 </a:t>
            </a:r>
            <a:r>
              <a:rPr lang="en-US" sz="2000" dirty="0" err="1"/>
              <a:t>yrs</a:t>
            </a:r>
            <a:r>
              <a:rPr lang="en-US" sz="2000" dirty="0"/>
              <a:t> BPOSD/O365D Ops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@</a:t>
            </a:r>
            <a:r>
              <a:rPr lang="en-US" sz="2000" dirty="0"/>
              <a:t>migreene</a:t>
            </a:r>
          </a:p>
          <a:p>
            <a:pPr marL="0" indent="0">
              <a:buNone/>
            </a:pPr>
            <a:r>
              <a:rPr lang="en-US" sz="2000" dirty="0" err="1" smtClean="0"/>
              <a:t>Mgreenegit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9331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hift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778203"/>
            <a:ext cx="8596668" cy="388077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 smtClean="0"/>
              <a:t>Requirements for a scientific revolution</a:t>
            </a:r>
          </a:p>
          <a:p>
            <a:pPr marL="0" lvl="0" indent="0">
              <a:buNone/>
            </a:pPr>
            <a:endParaRPr lang="en-US" sz="2800" dirty="0" smtClean="0"/>
          </a:p>
          <a:p>
            <a:pPr marL="0" lvl="0" indent="0">
              <a:buNone/>
            </a:pPr>
            <a:r>
              <a:rPr lang="en-US" sz="2400" i="1" dirty="0" smtClean="0"/>
              <a:t>First</a:t>
            </a:r>
            <a:r>
              <a:rPr lang="en-US" sz="2400" i="1" dirty="0"/>
              <a:t>, the new candidate </a:t>
            </a:r>
            <a:r>
              <a:rPr lang="en-US" sz="2400" b="1" i="1" dirty="0">
                <a:solidFill>
                  <a:schemeClr val="accent2"/>
                </a:solidFill>
              </a:rPr>
              <a:t>must seem to resolve some outstanding and generally recognized problem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i="1" dirty="0"/>
              <a:t>that can be met in no other way.</a:t>
            </a:r>
          </a:p>
          <a:p>
            <a:pPr marL="0" lvl="0" indent="0">
              <a:buNone/>
            </a:pPr>
            <a:r>
              <a:rPr lang="en-US" sz="2400" i="1" dirty="0"/>
              <a:t>Second, the new paradigm must promise to </a:t>
            </a:r>
            <a:r>
              <a:rPr lang="en-US" sz="2400" b="1" i="1" dirty="0">
                <a:solidFill>
                  <a:schemeClr val="accent2"/>
                </a:solidFill>
              </a:rPr>
              <a:t>preserve a relatively large part of the concrete problem-solving ability that has accrued to science through its predecessors.</a:t>
            </a:r>
          </a:p>
          <a:p>
            <a:pPr marL="0" lvl="0" indent="0" algn="r">
              <a:buNone/>
            </a:pPr>
            <a:r>
              <a:rPr lang="en-US" sz="2400" i="1" dirty="0"/>
              <a:t>(Kuhn </a:t>
            </a:r>
            <a:r>
              <a:rPr lang="en-US" sz="2400" i="1" dirty="0" err="1"/>
              <a:t>n.d.</a:t>
            </a:r>
            <a:r>
              <a:rPr lang="en-US" sz="2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28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068" t="1658" r="5186" b="15698"/>
          <a:stretch/>
        </p:blipFill>
        <p:spPr>
          <a:xfrm>
            <a:off x="3333582" y="1355599"/>
            <a:ext cx="3677118" cy="21529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253" y="487125"/>
            <a:ext cx="5062511" cy="1499616"/>
          </a:xfrm>
        </p:spPr>
        <p:txBody>
          <a:bodyPr>
            <a:normAutofit/>
          </a:bodyPr>
          <a:lstStyle/>
          <a:p>
            <a:r>
              <a:rPr lang="en-US" dirty="0" smtClean="0"/>
              <a:t>Landscape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27432" y="4030229"/>
            <a:ext cx="8089418" cy="34684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patterns &amp; practices</a:t>
            </a:r>
            <a:endParaRPr lang="en-US" dirty="0"/>
          </a:p>
        </p:txBody>
      </p:sp>
      <p:sp>
        <p:nvSpPr>
          <p:cNvPr id="6" name="Rectangular Callout 5"/>
          <p:cNvSpPr/>
          <p:nvPr/>
        </p:nvSpPr>
        <p:spPr>
          <a:xfrm>
            <a:off x="1381982" y="2582352"/>
            <a:ext cx="1544971" cy="1394460"/>
          </a:xfrm>
          <a:prstGeom prst="wedgeRectCallout">
            <a:avLst>
              <a:gd name="adj1" fmla="val -48226"/>
              <a:gd name="adj2" fmla="val 658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dirty="0">
                <a:solidFill>
                  <a:schemeClr val="bg1"/>
                </a:solidFill>
              </a:rPr>
              <a:t>do we include Windows Server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ular Callout 6"/>
          <p:cNvSpPr/>
          <p:nvPr/>
        </p:nvSpPr>
        <p:spPr>
          <a:xfrm>
            <a:off x="7549578" y="2582352"/>
            <a:ext cx="1422905" cy="1394460"/>
          </a:xfrm>
          <a:prstGeom prst="wedgeRectCallout">
            <a:avLst>
              <a:gd name="adj1" fmla="val 53587"/>
              <a:gd name="adj2" fmla="val 67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sz="1600" dirty="0">
                <a:solidFill>
                  <a:schemeClr val="bg1"/>
                </a:solidFill>
              </a:rPr>
              <a:t>that’s a little more on the dev side, than IT </a:t>
            </a:r>
            <a:r>
              <a:rPr lang="en-US" sz="1600" dirty="0" smtClean="0">
                <a:solidFill>
                  <a:schemeClr val="bg1"/>
                </a:solidFill>
              </a:rPr>
              <a:t>Pro</a:t>
            </a:r>
            <a:r>
              <a:rPr lang="en-US" sz="1100" dirty="0" smtClean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2016" y="4884377"/>
            <a:ext cx="6934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Whitepaper 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(#</a:t>
            </a:r>
            <a:r>
              <a:rPr lang="en-US" sz="2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releasepipeline</a:t>
            </a: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>
                <a:hlinkClick r:id="rId3"/>
              </a:rPr>
              <a:t>http://aka.ms/thereleasepipelinemodel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9990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onfiguration </a:t>
            </a:r>
            <a:r>
              <a:rPr lang="en-US" dirty="0"/>
              <a:t>as </a:t>
            </a:r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Lots </a:t>
            </a:r>
            <a:r>
              <a:rPr lang="en-US" sz="2800" dirty="0"/>
              <a:t>of </a:t>
            </a:r>
            <a:r>
              <a:rPr lang="en-US" sz="2800" dirty="0" smtClean="0"/>
              <a:t>API's</a:t>
            </a:r>
            <a:endParaRPr lang="en-US" sz="2800" dirty="0"/>
          </a:p>
          <a:p>
            <a:pPr lvl="0"/>
            <a:r>
              <a:rPr lang="en-US" sz="2800" dirty="0" smtClean="0"/>
              <a:t>Complex </a:t>
            </a:r>
            <a:r>
              <a:rPr lang="en-US" sz="2800" dirty="0"/>
              <a:t>scenarios should be </a:t>
            </a:r>
            <a:r>
              <a:rPr lang="en-US" sz="2800" dirty="0" err="1"/>
              <a:t>property:value</a:t>
            </a:r>
            <a:endParaRPr lang="en-US" sz="2800" dirty="0"/>
          </a:p>
          <a:p>
            <a:r>
              <a:rPr lang="en-US" sz="2800" dirty="0"/>
              <a:t>Living documentation</a:t>
            </a:r>
          </a:p>
          <a:p>
            <a:pPr lvl="0"/>
            <a:r>
              <a:rPr lang="en-US" sz="2800" dirty="0" smtClean="0"/>
              <a:t>PowerShell </a:t>
            </a:r>
            <a:r>
              <a:rPr lang="en-US" sz="2800" dirty="0"/>
              <a:t>DSC is the PLATFORM that all solutions can use to deploy and manage Windows Server</a:t>
            </a:r>
          </a:p>
          <a:p>
            <a:pPr lvl="0"/>
            <a:r>
              <a:rPr lang="en-US" sz="2800" dirty="0"/>
              <a:t>Azure Resource Manager is also Configuration as </a:t>
            </a:r>
            <a:r>
              <a:rPr lang="en-US" sz="2800" dirty="0" smtClean="0"/>
              <a:t>Code</a:t>
            </a:r>
          </a:p>
          <a:p>
            <a:pPr lvl="0"/>
            <a:r>
              <a:rPr lang="en-US" sz="2800" dirty="0" smtClean="0"/>
              <a:t>Nothing replaces knowledge about the systems you intend to manage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322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Release Pipeline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8272" r="76859" b="8929"/>
          <a:stretch/>
        </p:blipFill>
        <p:spPr>
          <a:xfrm>
            <a:off x="441807" y="2493817"/>
            <a:ext cx="2119746" cy="2202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8" t="9833" r="52204" b="9451"/>
          <a:stretch/>
        </p:blipFill>
        <p:spPr>
          <a:xfrm>
            <a:off x="2867891" y="2549236"/>
            <a:ext cx="2092036" cy="21474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0" t="9312" r="27273" b="7888"/>
          <a:stretch/>
        </p:blipFill>
        <p:spPr>
          <a:xfrm>
            <a:off x="5266265" y="2493816"/>
            <a:ext cx="2105892" cy="22028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8" t="9313" r="2755" b="9451"/>
          <a:stretch/>
        </p:blipFill>
        <p:spPr>
          <a:xfrm>
            <a:off x="7678495" y="2549236"/>
            <a:ext cx="2105891" cy="21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problems does this solve?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77334" y="1537854"/>
            <a:ext cx="10002982" cy="4474781"/>
            <a:chOff x="1080654" y="2059590"/>
            <a:chExt cx="9481691" cy="3786791"/>
          </a:xfrm>
          <a:solidFill>
            <a:schemeClr val="bg1">
              <a:alpha val="40000"/>
            </a:schemeClr>
          </a:solidFill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3FBFE"/>
                </a:clrFrom>
                <a:clrTo>
                  <a:srgbClr val="F3FB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73" t="56349" r="10845" b="25483"/>
            <a:stretch/>
          </p:blipFill>
          <p:spPr>
            <a:xfrm>
              <a:off x="1080654" y="4017580"/>
              <a:ext cx="4123980" cy="1828800"/>
            </a:xfrm>
            <a:prstGeom prst="rect">
              <a:avLst/>
            </a:prstGeom>
            <a:grpFill/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3FBFE"/>
                </a:clrFrom>
                <a:clrTo>
                  <a:srgbClr val="F3FB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4" t="77937" r="7467" b="3810"/>
            <a:stretch/>
          </p:blipFill>
          <p:spPr>
            <a:xfrm>
              <a:off x="5811981" y="4017581"/>
              <a:ext cx="4345115" cy="1828800"/>
            </a:xfrm>
            <a:prstGeom prst="rect">
              <a:avLst/>
            </a:prstGeom>
            <a:grpFill/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3FBFE"/>
                </a:clrFrom>
                <a:clrTo>
                  <a:srgbClr val="F3FB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72" t="19683" r="30242" b="62539"/>
            <a:stretch/>
          </p:blipFill>
          <p:spPr>
            <a:xfrm>
              <a:off x="1080654" y="2059590"/>
              <a:ext cx="2821500" cy="1828800"/>
            </a:xfrm>
            <a:prstGeom prst="rect">
              <a:avLst/>
            </a:prstGeom>
            <a:grpFill/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F3FBFE"/>
                </a:clrFrom>
                <a:clrTo>
                  <a:srgbClr val="F3FB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19" t="39165" r="4706" b="46949"/>
            <a:stretch/>
          </p:blipFill>
          <p:spPr>
            <a:xfrm>
              <a:off x="5811981" y="2242470"/>
              <a:ext cx="4750364" cy="146304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365302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8272" r="76692" b="8929"/>
          <a:stretch/>
        </p:blipFill>
        <p:spPr>
          <a:xfrm>
            <a:off x="3352799" y="578224"/>
            <a:ext cx="5529943" cy="570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did before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Prototype in VM</a:t>
            </a:r>
            <a:endParaRPr lang="en-US" sz="2800" dirty="0"/>
          </a:p>
          <a:p>
            <a:pPr lvl="0"/>
            <a:r>
              <a:rPr lang="en-US" sz="2800" dirty="0" smtClean="0"/>
              <a:t>Submit change form</a:t>
            </a:r>
            <a:endParaRPr lang="en-US" sz="2800" dirty="0"/>
          </a:p>
          <a:p>
            <a:pPr lvl="0"/>
            <a:r>
              <a:rPr lang="en-US" sz="2800" dirty="0" smtClean="0"/>
              <a:t>Present to CAB</a:t>
            </a:r>
            <a:endParaRPr lang="en-US" sz="2800" dirty="0"/>
          </a:p>
          <a:p>
            <a:pPr lvl="0"/>
            <a:r>
              <a:rPr lang="en-US" sz="2800" dirty="0" smtClean="0"/>
              <a:t>Argue that the change is worthwhile</a:t>
            </a:r>
          </a:p>
          <a:p>
            <a:pPr lvl="0"/>
            <a:r>
              <a:rPr lang="en-US" sz="2800" dirty="0" smtClean="0"/>
              <a:t>Conflict oversight by committee</a:t>
            </a:r>
          </a:p>
          <a:p>
            <a:pPr lvl="0"/>
            <a:r>
              <a:rPr lang="en-US" sz="2800" dirty="0" smtClean="0"/>
              <a:t>Update docs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8272" r="76608" b="8929"/>
          <a:stretch/>
        </p:blipFill>
        <p:spPr>
          <a:xfrm>
            <a:off x="10123713" y="172986"/>
            <a:ext cx="1850573" cy="19005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78182" y="3872375"/>
            <a:ext cx="4862945" cy="4572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53423" y="3300081"/>
            <a:ext cx="4862945" cy="4572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 now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3200" dirty="0" smtClean="0"/>
              <a:t>Document everything in configuration as code</a:t>
            </a:r>
          </a:p>
          <a:p>
            <a:pPr lvl="1"/>
            <a:r>
              <a:rPr lang="en-US" sz="3000" dirty="0" smtClean="0"/>
              <a:t>Including automated deployment and testing</a:t>
            </a:r>
            <a:endParaRPr lang="en-US" sz="3000" dirty="0"/>
          </a:p>
          <a:p>
            <a:pPr lvl="0"/>
            <a:r>
              <a:rPr lang="en-US" sz="3200" dirty="0" smtClean="0"/>
              <a:t>Clone latest to workstation</a:t>
            </a:r>
          </a:p>
          <a:p>
            <a:pPr lvl="0"/>
            <a:r>
              <a:rPr lang="en-US" sz="3200" dirty="0" smtClean="0"/>
              <a:t>Make change</a:t>
            </a:r>
            <a:endParaRPr lang="en-US" sz="3200" dirty="0"/>
          </a:p>
          <a:p>
            <a:pPr lvl="0"/>
            <a:r>
              <a:rPr lang="en-US" sz="3200" dirty="0" smtClean="0"/>
              <a:t>Run tests locally</a:t>
            </a:r>
            <a:endParaRPr lang="en-US" sz="3200" dirty="0"/>
          </a:p>
          <a:p>
            <a:pPr lvl="0"/>
            <a:r>
              <a:rPr lang="en-US" sz="3200" dirty="0" smtClean="0"/>
              <a:t>Push to Source</a:t>
            </a:r>
          </a:p>
          <a:p>
            <a:pPr lvl="1"/>
            <a:r>
              <a:rPr lang="en-US" sz="3000" dirty="0" smtClean="0"/>
              <a:t>Who, What, When, Why (comments)</a:t>
            </a:r>
          </a:p>
          <a:p>
            <a:pPr lvl="0"/>
            <a:r>
              <a:rPr lang="en-US" sz="3200" dirty="0" smtClean="0"/>
              <a:t>Merge with Master, resolve conflicts if needed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8272" r="76608" b="8929"/>
          <a:stretch/>
        </p:blipFill>
        <p:spPr>
          <a:xfrm>
            <a:off x="10123713" y="172986"/>
            <a:ext cx="1850573" cy="190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6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200" dirty="0" smtClean="0"/>
              <a:t>What is it like to manage a change?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" t="8272" r="76608" b="8929"/>
          <a:stretch/>
        </p:blipFill>
        <p:spPr>
          <a:xfrm>
            <a:off x="10123713" y="172986"/>
            <a:ext cx="1850573" cy="190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1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804862"/>
            <a:ext cx="9810750" cy="5248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6245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705368"/>
            <a:ext cx="10848498" cy="5151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04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0359"/>
          <a:stretch/>
        </p:blipFill>
        <p:spPr>
          <a:xfrm>
            <a:off x="1960160" y="3501970"/>
            <a:ext cx="8306604" cy="2256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343" y="853848"/>
            <a:ext cx="8278421" cy="2194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918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3" y="731042"/>
            <a:ext cx="5053994" cy="5319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658" y="1480456"/>
            <a:ext cx="6245732" cy="3820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78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8" t="9833" r="52162" b="9451"/>
          <a:stretch/>
        </p:blipFill>
        <p:spPr>
          <a:xfrm>
            <a:off x="3352800" y="613133"/>
            <a:ext cx="5497286" cy="563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1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did before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3200" dirty="0" smtClean="0"/>
              <a:t>Remote in on Saturday</a:t>
            </a:r>
            <a:endParaRPr lang="en-US" sz="3200" dirty="0"/>
          </a:p>
          <a:p>
            <a:pPr lvl="0"/>
            <a:r>
              <a:rPr lang="en-US" sz="3200" dirty="0" smtClean="0"/>
              <a:t>Make sure servers are listed in </a:t>
            </a:r>
            <a:r>
              <a:rPr lang="en-US" sz="3200" dirty="0" err="1" smtClean="0"/>
              <a:t>RDCMan</a:t>
            </a:r>
            <a:endParaRPr lang="en-US" sz="3200" dirty="0" smtClean="0"/>
          </a:p>
          <a:p>
            <a:pPr lvl="0"/>
            <a:r>
              <a:rPr lang="en-US" sz="3200" dirty="0" smtClean="0"/>
              <a:t>Connect to servers and make changes</a:t>
            </a:r>
          </a:p>
          <a:p>
            <a:pPr lvl="0"/>
            <a:r>
              <a:rPr lang="en-US" sz="3200" dirty="0" smtClean="0"/>
              <a:t>Reboot in order</a:t>
            </a:r>
          </a:p>
          <a:p>
            <a:pPr lvl="0"/>
            <a:r>
              <a:rPr lang="en-US" sz="3200" dirty="0" smtClean="0"/>
              <a:t>Say a prayer / squeeze rabbit’s foot / perform tribal dance</a:t>
            </a:r>
          </a:p>
          <a:p>
            <a:pPr lvl="0"/>
            <a:r>
              <a:rPr lang="en-US" sz="3200" dirty="0" smtClean="0"/>
              <a:t>Check that services still work correctly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8" t="9833" r="52162" b="9451"/>
          <a:stretch/>
        </p:blipFill>
        <p:spPr>
          <a:xfrm>
            <a:off x="10210800" y="145048"/>
            <a:ext cx="1828800" cy="187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 now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dirty="0" smtClean="0"/>
              <a:t>Trigger Build service</a:t>
            </a:r>
          </a:p>
          <a:p>
            <a:pPr lvl="1"/>
            <a:r>
              <a:rPr lang="en-US" sz="2800" dirty="0" err="1" smtClean="0"/>
              <a:t>Webhook</a:t>
            </a:r>
            <a:r>
              <a:rPr lang="en-US" sz="2800" dirty="0" smtClean="0"/>
              <a:t>/agent, schedule, manual</a:t>
            </a:r>
            <a:endParaRPr lang="en-US" sz="2800" dirty="0"/>
          </a:p>
          <a:p>
            <a:pPr lvl="0"/>
            <a:r>
              <a:rPr lang="en-US" sz="3200" dirty="0" smtClean="0"/>
              <a:t>Run scripts stored in Source</a:t>
            </a:r>
          </a:p>
          <a:p>
            <a:pPr lvl="0"/>
            <a:r>
              <a:rPr lang="en-US" sz="3200" dirty="0" smtClean="0"/>
              <a:t>Validate quality</a:t>
            </a:r>
          </a:p>
          <a:p>
            <a:pPr lvl="0"/>
            <a:r>
              <a:rPr lang="en-US" sz="3200" dirty="0" smtClean="0"/>
              <a:t>Perform work</a:t>
            </a:r>
          </a:p>
          <a:p>
            <a:pPr lvl="0"/>
            <a:r>
              <a:rPr lang="en-US" sz="3200" dirty="0" smtClean="0"/>
              <a:t>Capture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8" t="9833" r="52162" b="9451"/>
          <a:stretch/>
        </p:blipFill>
        <p:spPr>
          <a:xfrm>
            <a:off x="10210800" y="145048"/>
            <a:ext cx="1828800" cy="1873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7334" y="6154233"/>
            <a:ext cx="7491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* opportunity to implement Just Enough Administration</a:t>
            </a:r>
          </a:p>
          <a:p>
            <a:r>
              <a:rPr lang="en-US" dirty="0" smtClean="0">
                <a:hlinkClick r:id="rId3"/>
              </a:rPr>
              <a:t>http://aka.ms/JEA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0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Trigger build</a:t>
            </a:r>
            <a:endParaRPr lang="en-US" sz="2800" dirty="0"/>
          </a:p>
          <a:p>
            <a:pPr lvl="0"/>
            <a:r>
              <a:rPr lang="en-US" sz="2800" dirty="0" smtClean="0"/>
              <a:t>Verify thing happened</a:t>
            </a:r>
            <a:endParaRPr lang="en-US" sz="2800" dirty="0"/>
          </a:p>
          <a:p>
            <a:pPr lvl="0"/>
            <a:r>
              <a:rPr lang="en-US" sz="2800" dirty="0" smtClean="0"/>
              <a:t>View reports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8" t="9833" r="52162" b="9451"/>
          <a:stretch/>
        </p:blipFill>
        <p:spPr>
          <a:xfrm>
            <a:off x="10210800" y="145048"/>
            <a:ext cx="1828800" cy="187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6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95312"/>
            <a:ext cx="11525250" cy="5667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3797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14375"/>
            <a:ext cx="11582400" cy="5429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7697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866775"/>
            <a:ext cx="10277475" cy="5124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7472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1214437"/>
            <a:ext cx="8658225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648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474906"/>
            <a:ext cx="8486094" cy="6076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1355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1" y="726696"/>
            <a:ext cx="10383001" cy="5282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522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21" y="439566"/>
            <a:ext cx="9601701" cy="6158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9997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542925"/>
            <a:ext cx="7953375" cy="577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9785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0" t="9312" r="27273" b="7888"/>
          <a:stretch/>
        </p:blipFill>
        <p:spPr>
          <a:xfrm>
            <a:off x="3352800" y="559470"/>
            <a:ext cx="5486400" cy="573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did before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Create VM</a:t>
            </a:r>
          </a:p>
          <a:p>
            <a:pPr lvl="0"/>
            <a:r>
              <a:rPr lang="en-US" sz="2800" dirty="0" smtClean="0"/>
              <a:t>Install OS</a:t>
            </a:r>
          </a:p>
          <a:p>
            <a:pPr lvl="0"/>
            <a:r>
              <a:rPr lang="en-US" sz="2800" dirty="0" smtClean="0"/>
              <a:t>Install app/service</a:t>
            </a:r>
            <a:endParaRPr lang="en-US" sz="2800" dirty="0"/>
          </a:p>
          <a:p>
            <a:pPr lvl="0"/>
            <a:r>
              <a:rPr lang="en-US" sz="2800" dirty="0" smtClean="0"/>
              <a:t>Implement change</a:t>
            </a:r>
          </a:p>
          <a:p>
            <a:pPr lvl="1"/>
            <a:r>
              <a:rPr lang="en-US" sz="2600" dirty="0" smtClean="0"/>
              <a:t>Manual, test OU, run script</a:t>
            </a:r>
          </a:p>
          <a:p>
            <a:pPr lvl="0"/>
            <a:r>
              <a:rPr lang="en-US" sz="2800" dirty="0" smtClean="0"/>
              <a:t>Try app/service to make sure it still works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0" t="9312" r="27273" b="7888"/>
          <a:stretch/>
        </p:blipFill>
        <p:spPr>
          <a:xfrm>
            <a:off x="10150207" y="247569"/>
            <a:ext cx="1828800" cy="19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4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 now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717243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dirty="0" smtClean="0"/>
              <a:t>Build runs Scripts from Source</a:t>
            </a:r>
            <a:endParaRPr lang="en-US" sz="2400" dirty="0"/>
          </a:p>
          <a:p>
            <a:pPr lvl="0"/>
            <a:r>
              <a:rPr lang="en-US" sz="2400" dirty="0" smtClean="0"/>
              <a:t>Linting - Script Analyzer</a:t>
            </a:r>
          </a:p>
          <a:p>
            <a:pPr lvl="1"/>
            <a:r>
              <a:rPr lang="en-US" sz="2000" dirty="0" smtClean="0"/>
              <a:t>Must </a:t>
            </a:r>
            <a:r>
              <a:rPr lang="en-US" sz="2000" dirty="0"/>
              <a:t>meet guidelines set by </a:t>
            </a:r>
            <a:r>
              <a:rPr lang="en-US" sz="2000" dirty="0" smtClean="0"/>
              <a:t>organization</a:t>
            </a:r>
          </a:p>
          <a:p>
            <a:pPr lvl="0"/>
            <a:r>
              <a:rPr lang="en-US" sz="2400" dirty="0" smtClean="0"/>
              <a:t>Unit Tests – Pester</a:t>
            </a:r>
          </a:p>
          <a:p>
            <a:pPr lvl="1"/>
            <a:r>
              <a:rPr lang="en-US" sz="2000" dirty="0" smtClean="0"/>
              <a:t>Functionally </a:t>
            </a:r>
            <a:r>
              <a:rPr lang="en-US" sz="2000" dirty="0"/>
              <a:t>should work as </a:t>
            </a:r>
            <a:r>
              <a:rPr lang="en-US" sz="2000" dirty="0" smtClean="0"/>
              <a:t>expected</a:t>
            </a:r>
          </a:p>
          <a:p>
            <a:pPr lvl="0"/>
            <a:r>
              <a:rPr lang="en-US" sz="2400" dirty="0" smtClean="0"/>
              <a:t>Integration Tests – Pester / Kitchen</a:t>
            </a:r>
          </a:p>
          <a:p>
            <a:pPr lvl="1"/>
            <a:r>
              <a:rPr lang="en-US" sz="2000" dirty="0" smtClean="0"/>
              <a:t>Should work across matrix of diverse combinations</a:t>
            </a:r>
          </a:p>
          <a:p>
            <a:pPr lvl="0"/>
            <a:r>
              <a:rPr lang="en-US" sz="2400" dirty="0" smtClean="0"/>
              <a:t>Operational Validation – Pester / OVF</a:t>
            </a:r>
          </a:p>
          <a:p>
            <a:pPr lvl="1"/>
            <a:r>
              <a:rPr lang="en-US" sz="2000" dirty="0" smtClean="0"/>
              <a:t>Service </a:t>
            </a:r>
            <a:r>
              <a:rPr lang="en-US" sz="2000" dirty="0"/>
              <a:t>should do what it is supposed to </a:t>
            </a:r>
            <a:r>
              <a:rPr lang="en-US" sz="2000" dirty="0" smtClean="0"/>
              <a:t>do</a:t>
            </a:r>
          </a:p>
          <a:p>
            <a:pPr lvl="0"/>
            <a:r>
              <a:rPr lang="en-US" sz="2400" dirty="0" smtClean="0"/>
              <a:t>TDD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0" t="9312" r="27273" b="7888"/>
          <a:stretch/>
        </p:blipFill>
        <p:spPr>
          <a:xfrm>
            <a:off x="10150207" y="247569"/>
            <a:ext cx="1828800" cy="19130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9561772">
            <a:off x="6934499" y="5368062"/>
            <a:ext cx="261001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nothing else,</a:t>
            </a:r>
            <a:br>
              <a:rPr lang="en-US" sz="2800" b="0" cap="none" spc="0" dirty="0" smtClean="0">
                <a:ln w="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2800" b="0" cap="none" spc="0" dirty="0" smtClean="0">
                <a:ln w="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LEARN THIS</a:t>
            </a:r>
            <a:endParaRPr lang="en-US" sz="2800" b="0" cap="none" spc="0" dirty="0">
              <a:ln w="0">
                <a:solidFill>
                  <a:srgbClr val="00B0F0"/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206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smtClean="0"/>
              <a:t>Test-Kitchen</a:t>
            </a:r>
          </a:p>
          <a:p>
            <a:pPr lvl="0"/>
            <a:r>
              <a:rPr lang="en-US" dirty="0" smtClean="0"/>
              <a:t>Reports form Unit tests</a:t>
            </a:r>
          </a:p>
          <a:p>
            <a:pPr lvl="0"/>
            <a:r>
              <a:rPr lang="en-US" dirty="0" smtClean="0"/>
              <a:t>Reports from validation tests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0" t="9312" r="27273" b="7888"/>
          <a:stretch/>
        </p:blipFill>
        <p:spPr>
          <a:xfrm>
            <a:off x="10150207" y="247569"/>
            <a:ext cx="1828800" cy="19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08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80" y="2103080"/>
            <a:ext cx="10448174" cy="2326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2301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882315"/>
            <a:ext cx="11055597" cy="5355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78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66" y="1299412"/>
            <a:ext cx="10980022" cy="4179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973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038225"/>
            <a:ext cx="10782300" cy="4781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2243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8" t="9313" r="2755" b="9451"/>
          <a:stretch/>
        </p:blipFill>
        <p:spPr>
          <a:xfrm>
            <a:off x="3352800" y="613611"/>
            <a:ext cx="5486400" cy="563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7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did before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801361"/>
            <a:ext cx="8596668" cy="3880773"/>
          </a:xfrm>
        </p:spPr>
        <p:txBody>
          <a:bodyPr>
            <a:noAutofit/>
          </a:bodyPr>
          <a:lstStyle/>
          <a:p>
            <a:pPr lvl="0"/>
            <a:r>
              <a:rPr lang="en-US" sz="2800" dirty="0" smtClean="0"/>
              <a:t>Request/create VM</a:t>
            </a:r>
            <a:endParaRPr lang="en-US" sz="2800" dirty="0"/>
          </a:p>
          <a:p>
            <a:pPr lvl="0"/>
            <a:r>
              <a:rPr lang="en-US" sz="2800" dirty="0" smtClean="0"/>
              <a:t>Request/manage environmental changes</a:t>
            </a:r>
            <a:endParaRPr lang="en-US" sz="2800" dirty="0"/>
          </a:p>
          <a:p>
            <a:pPr lvl="0"/>
            <a:r>
              <a:rPr lang="en-US" sz="2800" dirty="0" smtClean="0"/>
              <a:t>Install OS</a:t>
            </a:r>
          </a:p>
          <a:p>
            <a:pPr lvl="0"/>
            <a:r>
              <a:rPr lang="en-US" sz="2800" dirty="0" smtClean="0"/>
              <a:t>Install app/service (or defer to app/service owner)</a:t>
            </a:r>
          </a:p>
          <a:p>
            <a:pPr lvl="0"/>
            <a:r>
              <a:rPr lang="en-US" sz="2800" dirty="0" smtClean="0"/>
              <a:t>Onboard to patching, anti-malware, backup, monitoring</a:t>
            </a:r>
          </a:p>
          <a:p>
            <a:pPr lvl="0"/>
            <a:r>
              <a:rPr lang="en-US" sz="2800" dirty="0" smtClean="0"/>
              <a:t>Validate app/service is working</a:t>
            </a:r>
          </a:p>
          <a:p>
            <a:pPr lvl="0"/>
            <a:r>
              <a:rPr lang="en-US" sz="2800" dirty="0" smtClean="0"/>
              <a:t>Go Live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8" t="9313" r="2755" b="9451"/>
          <a:stretch/>
        </p:blipFill>
        <p:spPr>
          <a:xfrm>
            <a:off x="10150207" y="161919"/>
            <a:ext cx="1828800" cy="187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54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 now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Build runs scripts from Source</a:t>
            </a:r>
          </a:p>
          <a:p>
            <a:pPr lvl="0"/>
            <a:r>
              <a:rPr lang="en-US" sz="2800" dirty="0" smtClean="0"/>
              <a:t>Potentially automatically releases when Tests pass</a:t>
            </a:r>
          </a:p>
          <a:p>
            <a:pPr lvl="0"/>
            <a:r>
              <a:rPr lang="en-US" sz="2800" dirty="0" smtClean="0"/>
              <a:t>Deploy </a:t>
            </a:r>
            <a:r>
              <a:rPr lang="en-US" sz="2800" dirty="0"/>
              <a:t>artifacts to environment</a:t>
            </a:r>
          </a:p>
          <a:p>
            <a:pPr lvl="0"/>
            <a:r>
              <a:rPr lang="en-US" sz="2800" dirty="0"/>
              <a:t>Simplify complex work through automation</a:t>
            </a:r>
          </a:p>
          <a:p>
            <a:pPr lvl="0"/>
            <a:r>
              <a:rPr lang="en-US" sz="2800" dirty="0"/>
              <a:t>Promote through </a:t>
            </a:r>
            <a:r>
              <a:rPr lang="en-US" sz="2800" dirty="0" smtClean="0"/>
              <a:t>stages</a:t>
            </a:r>
          </a:p>
          <a:p>
            <a:pPr lvl="1"/>
            <a:r>
              <a:rPr lang="en-US" sz="2600" dirty="0" smtClean="0"/>
              <a:t>QA, Prod, Green/Blue</a:t>
            </a: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8" t="9313" r="2755" b="9451"/>
          <a:stretch/>
        </p:blipFill>
        <p:spPr>
          <a:xfrm>
            <a:off x="10150207" y="161919"/>
            <a:ext cx="1828800" cy="187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32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PSDeploy</a:t>
            </a:r>
            <a:r>
              <a:rPr lang="en-US" dirty="0" smtClean="0"/>
              <a:t> ARM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8" t="9313" r="2755" b="9451"/>
          <a:stretch/>
        </p:blipFill>
        <p:spPr>
          <a:xfrm>
            <a:off x="10150207" y="161919"/>
            <a:ext cx="1828800" cy="187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92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952625"/>
            <a:ext cx="10353675" cy="295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2543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 projects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Pester</a:t>
            </a:r>
          </a:p>
          <a:p>
            <a:r>
              <a:rPr lang="en-US" sz="2800" dirty="0" err="1" smtClean="0"/>
              <a:t>pSake</a:t>
            </a:r>
            <a:endParaRPr lang="en-US" sz="2800" dirty="0" smtClean="0"/>
          </a:p>
          <a:p>
            <a:r>
              <a:rPr lang="en-US" sz="2800" dirty="0" err="1" smtClean="0"/>
              <a:t>psDeploy</a:t>
            </a:r>
            <a:endParaRPr lang="en-US" sz="2800" dirty="0" smtClean="0"/>
          </a:p>
          <a:p>
            <a:r>
              <a:rPr lang="en-US" sz="2800" dirty="0" smtClean="0"/>
              <a:t>Operational Validation Framework</a:t>
            </a:r>
          </a:p>
          <a:p>
            <a:r>
              <a:rPr lang="en-US" sz="2800" i="1" dirty="0" err="1" smtClean="0"/>
              <a:t>your_project_here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5636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 the transition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Don't </a:t>
            </a:r>
            <a:r>
              <a:rPr lang="en-US" sz="2800" dirty="0" smtClean="0"/>
              <a:t>cutover </a:t>
            </a:r>
            <a:r>
              <a:rPr lang="en-US" sz="2800" dirty="0"/>
              <a:t>overnight</a:t>
            </a:r>
          </a:p>
          <a:p>
            <a:pPr lvl="0"/>
            <a:r>
              <a:rPr lang="en-US" sz="2800" dirty="0" smtClean="0"/>
              <a:t>Old and new tools </a:t>
            </a:r>
            <a:r>
              <a:rPr lang="en-US" sz="2800" dirty="0"/>
              <a:t>can be integrated</a:t>
            </a:r>
          </a:p>
          <a:p>
            <a:pPr lvl="0"/>
            <a:r>
              <a:rPr lang="en-US" sz="2800" dirty="0" smtClean="0"/>
              <a:t>Keep options open</a:t>
            </a:r>
            <a:endParaRPr lang="en-US" sz="2800" dirty="0"/>
          </a:p>
        </p:txBody>
      </p:sp>
      <p:pic>
        <p:nvPicPr>
          <p:cNvPr id="1026" name="Picture 2" descr="http://25.media.tumblr.com/tumblr_m7m4u85OSN1rw7nseo1_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814" y="2079679"/>
            <a:ext cx="3762375" cy="375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11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it contagious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dirty="0" smtClean="0"/>
              <a:t>apply this model to:</a:t>
            </a:r>
          </a:p>
          <a:p>
            <a:pPr lvl="0"/>
            <a:r>
              <a:rPr lang="en-US" sz="2800" dirty="0" smtClean="0"/>
              <a:t>OS </a:t>
            </a:r>
            <a:r>
              <a:rPr lang="en-US" sz="2800" dirty="0"/>
              <a:t>images</a:t>
            </a:r>
          </a:p>
          <a:p>
            <a:pPr lvl="0"/>
            <a:r>
              <a:rPr lang="en-US" sz="2800" dirty="0" smtClean="0"/>
              <a:t>app </a:t>
            </a:r>
            <a:r>
              <a:rPr lang="en-US" sz="2800" dirty="0"/>
              <a:t>packages</a:t>
            </a:r>
          </a:p>
          <a:p>
            <a:pPr lvl="0"/>
            <a:r>
              <a:rPr lang="en-US" sz="2800" dirty="0" smtClean="0"/>
              <a:t>containers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0968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</a:t>
            </a:r>
            <a:r>
              <a:rPr lang="en-US" dirty="0"/>
              <a:t>change visible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If change is happening fluidly, everyone needs to know</a:t>
            </a:r>
          </a:p>
          <a:p>
            <a:pPr lvl="0"/>
            <a:r>
              <a:rPr lang="en-US" sz="2800" dirty="0" smtClean="0"/>
              <a:t>Your peers are not going to go check reports, the way they check Facebook</a:t>
            </a:r>
            <a:endParaRPr lang="en-US" sz="2800" dirty="0"/>
          </a:p>
          <a:p>
            <a:pPr lvl="0"/>
            <a:r>
              <a:rPr lang="en-US" sz="2800" dirty="0"/>
              <a:t>Notify all </a:t>
            </a:r>
            <a:r>
              <a:rPr lang="en-US" sz="2800" dirty="0" smtClean="0"/>
              <a:t>stakeholders </a:t>
            </a:r>
            <a:r>
              <a:rPr lang="en-US" sz="2800" i="1" dirty="0" smtClean="0"/>
              <a:t>in the way they collaborate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91626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inally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/>
              <a:t>Everyone </a:t>
            </a:r>
            <a:r>
              <a:rPr lang="en-US" sz="2800" dirty="0"/>
              <a:t>must be </a:t>
            </a:r>
            <a:r>
              <a:rPr lang="en-US" sz="2800" dirty="0" smtClean="0"/>
              <a:t>onboard for long term success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164684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20AF01-3874-4017-8F35-92B025BE5519}" vid="{1946D8F1-88D5-40E0-BD14-1E9004CC2F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PowerShellDevOpsGlobalSummit</Template>
  <TotalTime>1490</TotalTime>
  <Words>605</Words>
  <Application>Microsoft Macintosh PowerPoint</Application>
  <PresentationFormat>Widescreen</PresentationFormat>
  <Paragraphs>133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Trebuchet MS</vt:lpstr>
      <vt:lpstr>Arial</vt:lpstr>
      <vt:lpstr>Wingdings 3</vt:lpstr>
      <vt:lpstr>Facet</vt:lpstr>
      <vt:lpstr>The Release Pipeline Model</vt:lpstr>
      <vt:lpstr>whoami</vt:lpstr>
      <vt:lpstr>Shift</vt:lpstr>
      <vt:lpstr>Landscape</vt:lpstr>
      <vt:lpstr>Configuration as Code</vt:lpstr>
      <vt:lpstr>The Release Pipeline</vt:lpstr>
      <vt:lpstr>What problems does this solve?</vt:lpstr>
      <vt:lpstr>PowerPoint Presentation</vt:lpstr>
      <vt:lpstr>What we did before</vt:lpstr>
      <vt:lpstr>What we do now</vt:lpstr>
      <vt:lpstr>Show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did before</vt:lpstr>
      <vt:lpstr>What we do now</vt:lpstr>
      <vt:lpstr>Show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did before</vt:lpstr>
      <vt:lpstr>What we do now</vt:lpstr>
      <vt:lpstr>Show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did before</vt:lpstr>
      <vt:lpstr>What we do now</vt:lpstr>
      <vt:lpstr>Show</vt:lpstr>
      <vt:lpstr>PowerPoint Presentation</vt:lpstr>
      <vt:lpstr>Community projects</vt:lpstr>
      <vt:lpstr>Architect the transition</vt:lpstr>
      <vt:lpstr>Make it contagious</vt:lpstr>
      <vt:lpstr>Make change visible</vt:lpstr>
      <vt:lpstr>Finally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Release Pipeline Model, Applied to Managing Windows Server and The Microsoft Cloud</dc:title>
  <dc:creator>Michael Greene</dc:creator>
  <cp:lastModifiedBy>Michael Greene</cp:lastModifiedBy>
  <cp:revision>129</cp:revision>
  <dcterms:created xsi:type="dcterms:W3CDTF">2016-03-15T03:47:35Z</dcterms:created>
  <dcterms:modified xsi:type="dcterms:W3CDTF">2016-04-10T14:03:29Z</dcterms:modified>
</cp:coreProperties>
</file>
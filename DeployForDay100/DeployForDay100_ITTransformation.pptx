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463" r:id="rId5"/>
    <p:sldId id="357" r:id="rId6"/>
    <p:sldId id="573" r:id="rId7"/>
    <p:sldId id="576" r:id="rId8"/>
    <p:sldId id="575" r:id="rId9"/>
    <p:sldId id="552" r:id="rId10"/>
    <p:sldId id="574" r:id="rId11"/>
    <p:sldId id="549" r:id="rId12"/>
    <p:sldId id="553" r:id="rId13"/>
    <p:sldId id="551" r:id="rId14"/>
    <p:sldId id="547" r:id="rId15"/>
    <p:sldId id="557" r:id="rId16"/>
    <p:sldId id="561" r:id="rId17"/>
    <p:sldId id="560" r:id="rId18"/>
    <p:sldId id="562" r:id="rId19"/>
    <p:sldId id="563" r:id="rId20"/>
    <p:sldId id="564" r:id="rId21"/>
    <p:sldId id="555" r:id="rId22"/>
    <p:sldId id="565" r:id="rId23"/>
    <p:sldId id="567" r:id="rId24"/>
    <p:sldId id="566" r:id="rId25"/>
    <p:sldId id="572" r:id="rId26"/>
    <p:sldId id="570" r:id="rId27"/>
    <p:sldId id="571" r:id="rId28"/>
    <p:sldId id="577" r:id="rId29"/>
    <p:sldId id="568" r:id="rId30"/>
    <p:sldId id="569" r:id="rId31"/>
    <p:sldId id="542" r:id="rId32"/>
    <p:sldId id="540" r:id="rId33"/>
    <p:sldId id="578" r:id="rId34"/>
    <p:sldId id="543" r:id="rId35"/>
    <p:sldId id="546" r:id="rId36"/>
  </p:sldIdLst>
  <p:sldSz cx="9144000" cy="5143500" type="screen16x9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FF1CEDE-8733-465F-987F-CD4C7D145846}">
          <p14:sldIdLst>
            <p14:sldId id="463"/>
            <p14:sldId id="357"/>
            <p14:sldId id="573"/>
            <p14:sldId id="576"/>
            <p14:sldId id="575"/>
            <p14:sldId id="552"/>
            <p14:sldId id="574"/>
            <p14:sldId id="549"/>
            <p14:sldId id="553"/>
            <p14:sldId id="551"/>
            <p14:sldId id="547"/>
            <p14:sldId id="557"/>
            <p14:sldId id="561"/>
            <p14:sldId id="560"/>
            <p14:sldId id="562"/>
            <p14:sldId id="563"/>
            <p14:sldId id="564"/>
            <p14:sldId id="555"/>
            <p14:sldId id="565"/>
            <p14:sldId id="567"/>
            <p14:sldId id="566"/>
            <p14:sldId id="572"/>
            <p14:sldId id="570"/>
            <p14:sldId id="571"/>
            <p14:sldId id="577"/>
            <p14:sldId id="568"/>
            <p14:sldId id="569"/>
            <p14:sldId id="542"/>
            <p14:sldId id="540"/>
            <p14:sldId id="578"/>
            <p14:sldId id="543"/>
            <p14:sldId id="5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imberly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3F32"/>
    <a:srgbClr val="418F89"/>
    <a:srgbClr val="133D80"/>
    <a:srgbClr val="882483"/>
    <a:srgbClr val="8935C8"/>
    <a:srgbClr val="22AFE7"/>
    <a:srgbClr val="005087"/>
    <a:srgbClr val="336699"/>
    <a:srgbClr val="FFFFCC"/>
    <a:srgbClr val="EF8B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24" autoAdjust="0"/>
    <p:restoredTop sz="83791" autoAdjust="0"/>
  </p:normalViewPr>
  <p:slideViewPr>
    <p:cSldViewPr>
      <p:cViewPr varScale="1">
        <p:scale>
          <a:sx n="70" d="100"/>
          <a:sy n="70" d="100"/>
        </p:scale>
        <p:origin x="68" y="34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>
        <p:scale>
          <a:sx n="100" d="100"/>
          <a:sy n="100" d="100"/>
        </p:scale>
        <p:origin x="-3408" y="-7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" y="9120190"/>
            <a:ext cx="7313613" cy="479425"/>
          </a:xfrm>
          <a:prstGeom prst="rect">
            <a:avLst/>
          </a:prstGeom>
        </p:spPr>
        <p:txBody>
          <a:bodyPr vert="horz" lIns="91417" tIns="45708" rIns="91417" bIns="45708" rtlCol="0" anchor="b"/>
          <a:lstStyle>
            <a:lvl1pPr algn="r">
              <a:defRPr sz="1200"/>
            </a:lvl1pPr>
          </a:lstStyle>
          <a:p>
            <a:pPr algn="ctr"/>
            <a:fld id="{F403B382-5E20-4D88-A964-1D6629C87BBB}" type="slidenum">
              <a:rPr lang="en-US" smtClean="0">
                <a:latin typeface="Calibri Light" pitchFamily="34" charset="0"/>
              </a:rPr>
              <a:pPr algn="ctr"/>
              <a:t>‹#›</a:t>
            </a:fld>
            <a:endParaRPr lang="en-US" dirty="0">
              <a:latin typeface="Calibri Light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" y="9134475"/>
            <a:ext cx="2971801" cy="0"/>
          </a:xfrm>
          <a:prstGeom prst="line">
            <a:avLst/>
          </a:prstGeom>
          <a:ln w="317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8915400"/>
            <a:ext cx="1219200" cy="51661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4343401" y="9134475"/>
            <a:ext cx="2971801" cy="0"/>
          </a:xfrm>
          <a:prstGeom prst="line">
            <a:avLst/>
          </a:prstGeom>
          <a:ln w="317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072482" y="152402"/>
            <a:ext cx="3170238" cy="479425"/>
          </a:xfrm>
          <a:prstGeom prst="rect">
            <a:avLst/>
          </a:prstGeom>
        </p:spPr>
        <p:txBody>
          <a:bodyPr vert="horz" lIns="91417" tIns="45708" rIns="91417" bIns="45708" rtlCol="0"/>
          <a:lstStyle>
            <a:lvl1pPr algn="l">
              <a:defRPr sz="1200"/>
            </a:lvl1pPr>
          </a:lstStyle>
          <a:p>
            <a:pPr algn="ctr"/>
            <a:endParaRPr lang="en-US" sz="1400" dirty="0">
              <a:latin typeface="Calibr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8419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3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6" tIns="48318" rIns="96636" bIns="48318" numCol="1" anchor="t" anchorCtr="0" compatLnSpc="1">
            <a:prstTxWarp prst="textNoShape">
              <a:avLst/>
            </a:prstTxWarp>
          </a:bodyPr>
          <a:lstStyle>
            <a:lvl1pPr defTabSz="966537" eaLnBrk="1" hangingPunct="1">
              <a:defRPr sz="1200">
                <a:latin typeface="Calibri Light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3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6" tIns="48318" rIns="96636" bIns="48318" numCol="1" anchor="t" anchorCtr="0" compatLnSpc="1">
            <a:prstTxWarp prst="textNoShape">
              <a:avLst/>
            </a:prstTxWarp>
          </a:bodyPr>
          <a:lstStyle>
            <a:lvl1pPr algn="r" defTabSz="966537" eaLnBrk="1" hangingPunct="1">
              <a:defRPr sz="1200">
                <a:latin typeface="Calibri Light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8788" y="720725"/>
            <a:ext cx="63976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40" y="4560890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6" tIns="48318" rIns="96636" bIns="483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019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6" tIns="48318" rIns="96636" bIns="48318" numCol="1" anchor="b" anchorCtr="0" compatLnSpc="1">
            <a:prstTxWarp prst="textNoShape">
              <a:avLst/>
            </a:prstTxWarp>
          </a:bodyPr>
          <a:lstStyle>
            <a:lvl1pPr defTabSz="966537" eaLnBrk="1" hangingPunct="1">
              <a:defRPr sz="1200">
                <a:latin typeface="Calibri Light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9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6" tIns="48318" rIns="96636" bIns="48318" numCol="1" anchor="b" anchorCtr="0" compatLnSpc="1">
            <a:prstTxWarp prst="textNoShape">
              <a:avLst/>
            </a:prstTxWarp>
          </a:bodyPr>
          <a:lstStyle>
            <a:lvl1pPr algn="r" defTabSz="966537" eaLnBrk="1" hangingPunct="1">
              <a:defRPr sz="1200">
                <a:latin typeface="Calibri Light" pitchFamily="34" charset="0"/>
              </a:defRPr>
            </a:lvl1pPr>
          </a:lstStyle>
          <a:p>
            <a:pPr>
              <a:defRPr/>
            </a:pPr>
            <a:fld id="{47C584BF-6945-4E60-B2A7-1638FF8EA8E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0990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C584BF-6945-4E60-B2A7-1638FF8EA8E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0" name="Title 32779"/>
          <p:cNvSpPr>
            <a:spLocks noGrp="1" noChangeArrowheads="1"/>
          </p:cNvSpPr>
          <p:nvPr>
            <p:ph type="ctrTitle"/>
          </p:nvPr>
        </p:nvSpPr>
        <p:spPr>
          <a:xfrm>
            <a:off x="685800" y="400050"/>
            <a:ext cx="7772400" cy="1885950"/>
          </a:xfrm>
          <a:noFill/>
        </p:spPr>
        <p:txBody>
          <a:bodyPr anchor="b"/>
          <a:lstStyle>
            <a:lvl1pPr algn="r">
              <a:defRPr sz="3200" b="1">
                <a:solidFill>
                  <a:srgbClr val="22AFE7"/>
                </a:solidFill>
                <a:latin typeface="Calibri Light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2781" name="Subtitle 32780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2343150"/>
            <a:ext cx="6400800" cy="971550"/>
          </a:xfrm>
        </p:spPr>
        <p:txBody>
          <a:bodyPr/>
          <a:lstStyle>
            <a:lvl1pPr marL="0" indent="0" algn="r">
              <a:buNone/>
              <a:defRPr b="0">
                <a:latin typeface="Calibri Light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019550"/>
            <a:ext cx="4073358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3780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 rtlCol="0"/>
          <a:lstStyle>
            <a:lvl1pPr marL="0" indent="0" algn="ctr" defTabSz="-13873163" rtl="0" eaLnBrk="1" fontAlgn="base" hangingPunct="1">
              <a:spcBef>
                <a:spcPct val="0"/>
              </a:spcBef>
              <a:spcAft>
                <a:spcPct val="0"/>
              </a:spcAft>
              <a:defRPr lang="en-US" sz="2900" b="1" dirty="0">
                <a:solidFill>
                  <a:schemeClr val="tx2"/>
                </a:solidFill>
                <a:latin typeface="Calibri"/>
                <a:ea typeface="+mj-ea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28700"/>
            <a:ext cx="8229600" cy="3200400"/>
          </a:xfrm>
        </p:spPr>
        <p:txBody>
          <a:bodyPr rtlCol="0"/>
          <a:lstStyle>
            <a:lvl1pPr>
              <a:buClrTx/>
              <a:buFont typeface="Wingdings" pitchFamily="2" charset="2"/>
              <a:buChar char="§"/>
              <a:defRPr sz="2100" b="1">
                <a:latin typeface="Calibri" pitchFamily="34" charset="0"/>
              </a:defRPr>
            </a:lvl1pPr>
            <a:lvl2pPr>
              <a:buClrTx/>
              <a:buFont typeface="Wingdings" pitchFamily="2" charset="2"/>
              <a:buChar char="o"/>
              <a:defRPr sz="1900" b="0">
                <a:latin typeface="Calibri Light" pitchFamily="34" charset="0"/>
              </a:defRPr>
            </a:lvl2pPr>
            <a:lvl3pPr>
              <a:buClrTx/>
              <a:buFont typeface="Wingdings" pitchFamily="2" charset="2"/>
              <a:buChar char="o"/>
              <a:defRPr sz="1700" b="0">
                <a:latin typeface="Calibri Light" pitchFamily="34" charset="0"/>
              </a:defRPr>
            </a:lvl3pPr>
            <a:lvl4pPr>
              <a:buClrTx/>
              <a:buFont typeface="Wingdings" pitchFamily="2" charset="2"/>
              <a:buChar char="o"/>
              <a:defRPr sz="1500" b="0">
                <a:latin typeface="Calibri Light" pitchFamily="34" charset="0"/>
              </a:defRPr>
            </a:lvl4pPr>
            <a:lvl5pPr>
              <a:buClrTx/>
              <a:buFont typeface="Wingdings" pitchFamily="2" charset="2"/>
              <a:buChar char="o"/>
              <a:defRPr sz="1300" b="0">
                <a:latin typeface="Calibri Light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6477000" y="4774168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694347"/>
            <a:ext cx="1905000" cy="39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62362"/>
      </p:ext>
    </p:extLst>
  </p:cSld>
  <p:clrMapOvr>
    <a:masterClrMapping/>
  </p:clrMapOvr>
  <p:transition>
    <p:fade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 rtlCol="0"/>
          <a:lstStyle>
            <a:lvl1pPr marL="0" indent="0" algn="ctr" defTabSz="-13873163" rtl="0" eaLnBrk="1" fontAlgn="base" hangingPunct="1">
              <a:spcBef>
                <a:spcPct val="0"/>
              </a:spcBef>
              <a:spcAft>
                <a:spcPct val="0"/>
              </a:spcAft>
              <a:defRPr lang="en-US" sz="2900" b="1" dirty="0">
                <a:solidFill>
                  <a:schemeClr val="tx2"/>
                </a:solidFill>
                <a:latin typeface="Calibri"/>
                <a:ea typeface="+mj-ea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28700"/>
            <a:ext cx="4023360" cy="3200400"/>
          </a:xfrm>
        </p:spPr>
        <p:txBody>
          <a:bodyPr rtlCol="0"/>
          <a:lstStyle>
            <a:lvl1pPr>
              <a:buClrTx/>
              <a:buFont typeface="Wingdings" pitchFamily="2" charset="2"/>
              <a:buChar char="§"/>
              <a:defRPr sz="2100" b="1">
                <a:latin typeface="Calibri" pitchFamily="34" charset="0"/>
              </a:defRPr>
            </a:lvl1pPr>
            <a:lvl2pPr>
              <a:buClrTx/>
              <a:buFont typeface="Wingdings" pitchFamily="2" charset="2"/>
              <a:buChar char="o"/>
              <a:defRPr sz="1900" b="0">
                <a:latin typeface="Calibri Light" pitchFamily="34" charset="0"/>
              </a:defRPr>
            </a:lvl2pPr>
            <a:lvl3pPr>
              <a:buClrTx/>
              <a:buFont typeface="Wingdings" pitchFamily="2" charset="2"/>
              <a:buChar char="o"/>
              <a:defRPr sz="1700" b="0">
                <a:latin typeface="Calibri Light" pitchFamily="34" charset="0"/>
              </a:defRPr>
            </a:lvl3pPr>
            <a:lvl4pPr>
              <a:buClrTx/>
              <a:buFont typeface="Wingdings" pitchFamily="2" charset="2"/>
              <a:buChar char="o"/>
              <a:defRPr sz="1500" b="0">
                <a:latin typeface="Calibri Light" pitchFamily="34" charset="0"/>
              </a:defRPr>
            </a:lvl4pPr>
            <a:lvl5pPr>
              <a:buClrTx/>
              <a:buFont typeface="Wingdings" pitchFamily="2" charset="2"/>
              <a:buChar char="o"/>
              <a:defRPr sz="1300" b="0">
                <a:latin typeface="Calibri Light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6477000" y="4774168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694347"/>
            <a:ext cx="1905000" cy="392003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D50E44-F237-47B0-8FB7-687862EEDB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48200" y="1028700"/>
            <a:ext cx="4023360" cy="32004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53059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 rtlCol="0"/>
          <a:lstStyle>
            <a:lvl1pPr marL="0" indent="0" algn="ctr" defTabSz="-13873163" rtl="0" eaLnBrk="1" fontAlgn="base" hangingPunct="1">
              <a:spcBef>
                <a:spcPct val="0"/>
              </a:spcBef>
              <a:spcAft>
                <a:spcPct val="0"/>
              </a:spcAft>
              <a:defRPr lang="en-US" sz="2900" b="1" dirty="0">
                <a:solidFill>
                  <a:schemeClr val="tx2"/>
                </a:solidFill>
                <a:latin typeface="+mj-lt"/>
                <a:ea typeface="+mj-ea"/>
                <a:cs typeface="Segoe UI" pitchFamily="34" charset="0"/>
              </a:defRPr>
            </a:lvl1pPr>
          </a:lstStyle>
          <a:p>
            <a:r>
              <a:rPr lang="en-US" dirty="0"/>
              <a:t>References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28700"/>
            <a:ext cx="8229600" cy="3200400"/>
          </a:xfrm>
        </p:spPr>
        <p:txBody>
          <a:bodyPr rtlCol="0"/>
          <a:lstStyle>
            <a:lvl1pPr>
              <a:buClrTx/>
              <a:buFont typeface="Wingdings" pitchFamily="2" charset="2"/>
              <a:buChar char="§"/>
              <a:defRPr sz="2100" b="1">
                <a:latin typeface="Calibri" pitchFamily="34" charset="0"/>
              </a:defRPr>
            </a:lvl1pPr>
            <a:lvl2pPr>
              <a:buClrTx/>
              <a:buFont typeface="Wingdings" pitchFamily="2" charset="2"/>
              <a:buChar char="o"/>
              <a:defRPr sz="1900" b="0">
                <a:latin typeface="Calibri Light" pitchFamily="34" charset="0"/>
              </a:defRPr>
            </a:lvl2pPr>
            <a:lvl3pPr>
              <a:buClrTx/>
              <a:buFont typeface="Wingdings" pitchFamily="2" charset="2"/>
              <a:buChar char="o"/>
              <a:defRPr sz="1700" b="0">
                <a:latin typeface="Calibri Light" pitchFamily="34" charset="0"/>
              </a:defRPr>
            </a:lvl3pPr>
            <a:lvl4pPr>
              <a:buClrTx/>
              <a:buFont typeface="Wingdings" pitchFamily="2" charset="2"/>
              <a:buChar char="o"/>
              <a:defRPr sz="1500" b="0">
                <a:latin typeface="Calibri Light" pitchFamily="34" charset="0"/>
              </a:defRPr>
            </a:lvl4pPr>
            <a:lvl5pPr>
              <a:buClrTx/>
              <a:buFont typeface="Wingdings" pitchFamily="2" charset="2"/>
              <a:buChar char="o"/>
              <a:defRPr sz="1300" b="0">
                <a:latin typeface="Calibri Light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/>
          <p:cNvSpPr txBox="1"/>
          <p:nvPr userDrawn="1"/>
        </p:nvSpPr>
        <p:spPr bwMode="auto">
          <a:xfrm>
            <a:off x="6477000" y="4774168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694347"/>
            <a:ext cx="1905000" cy="39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7158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Box 10"/>
          <p:cNvSpPr txBox="1"/>
          <p:nvPr userDrawn="1"/>
        </p:nvSpPr>
        <p:spPr bwMode="auto">
          <a:xfrm>
            <a:off x="6477000" y="4774168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SPintersection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www.SPintersection.com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6" name="Picture 5" descr="SharePoint_darkeryellow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716826"/>
            <a:ext cx="1716795" cy="356824"/>
          </a:xfrm>
          <a:prstGeom prst="rect">
            <a:avLst/>
          </a:prstGeom>
        </p:spPr>
      </p:pic>
      <p:pic>
        <p:nvPicPr>
          <p:cNvPr id="8" name="Picture 7" descr="Office365_darkeryellow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716826"/>
            <a:ext cx="1676400" cy="35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446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Box 5"/>
          <p:cNvSpPr txBox="1"/>
          <p:nvPr userDrawn="1"/>
        </p:nvSpPr>
        <p:spPr bwMode="auto">
          <a:xfrm>
            <a:off x="6477000" y="4774168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694347"/>
            <a:ext cx="1905000" cy="39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41804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80035"/>
            <a:ext cx="7772400" cy="1125140"/>
          </a:xfrm>
        </p:spPr>
        <p:txBody>
          <a:bodyPr anchor="b"/>
          <a:lstStyle>
            <a:lvl1pPr marL="0" indent="0">
              <a:buNone/>
              <a:defRPr sz="2100" i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3371850"/>
            <a:ext cx="7772400" cy="57150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Box 6"/>
          <p:cNvSpPr txBox="1"/>
          <p:nvPr userDrawn="1"/>
        </p:nvSpPr>
        <p:spPr bwMode="auto">
          <a:xfrm>
            <a:off x="6477000" y="4774168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694347"/>
            <a:ext cx="1905000" cy="39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7171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80035"/>
            <a:ext cx="7772400" cy="1125140"/>
          </a:xfrm>
        </p:spPr>
        <p:txBody>
          <a:bodyPr anchor="b"/>
          <a:lstStyle>
            <a:lvl1pPr marL="0" indent="0">
              <a:buNone/>
              <a:defRPr sz="2100" i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3371850"/>
            <a:ext cx="7772400" cy="57150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Box 6"/>
          <p:cNvSpPr txBox="1"/>
          <p:nvPr userDrawn="1"/>
        </p:nvSpPr>
        <p:spPr bwMode="auto">
          <a:xfrm>
            <a:off x="6477000" y="4774168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694347"/>
            <a:ext cx="1905000" cy="39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3829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2900" b="1" dirty="0">
                <a:solidFill>
                  <a:schemeClr val="tx2"/>
                </a:solidFill>
                <a:latin typeface="+mj-lt"/>
                <a:ea typeface="+mj-ea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28700"/>
            <a:ext cx="8229600" cy="3200400"/>
          </a:xfrm>
        </p:spPr>
        <p:txBody>
          <a:bodyPr rtlCol="0"/>
          <a:lstStyle>
            <a:lvl1pPr>
              <a:buClrTx/>
              <a:buFont typeface="Wingdings" pitchFamily="2" charset="2"/>
              <a:buChar char="§"/>
              <a:defRPr sz="2100" b="1">
                <a:latin typeface="Calibri" pitchFamily="34" charset="0"/>
              </a:defRPr>
            </a:lvl1pPr>
            <a:lvl2pPr>
              <a:buClrTx/>
              <a:buFont typeface="Wingdings" pitchFamily="2" charset="2"/>
              <a:buChar char="o"/>
              <a:defRPr sz="1900" b="0">
                <a:latin typeface="Calibri Light" pitchFamily="34" charset="0"/>
              </a:defRPr>
            </a:lvl2pPr>
            <a:lvl3pPr>
              <a:buClrTx/>
              <a:buFont typeface="Wingdings" pitchFamily="2" charset="2"/>
              <a:buChar char="o"/>
              <a:defRPr sz="1700" b="0">
                <a:latin typeface="Calibri Light" pitchFamily="34" charset="0"/>
              </a:defRPr>
            </a:lvl3pPr>
            <a:lvl4pPr>
              <a:buClrTx/>
              <a:buFont typeface="Wingdings" pitchFamily="2" charset="2"/>
              <a:buChar char="o"/>
              <a:defRPr sz="1500" b="0">
                <a:latin typeface="Calibri Light" pitchFamily="34" charset="0"/>
              </a:defRPr>
            </a:lvl4pPr>
            <a:lvl5pPr>
              <a:buClrTx/>
              <a:buFont typeface="Wingdings" pitchFamily="2" charset="2"/>
              <a:buChar char="o"/>
              <a:defRPr sz="1300" b="0">
                <a:latin typeface="Calibri Light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/>
          <p:cNvSpPr txBox="1"/>
          <p:nvPr userDrawn="1"/>
        </p:nvSpPr>
        <p:spPr bwMode="auto">
          <a:xfrm>
            <a:off x="6477000" y="4774168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694347"/>
            <a:ext cx="1905000" cy="39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6688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457200" y="292894"/>
            <a:ext cx="8229600" cy="57150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28700"/>
            <a:ext cx="8229600" cy="3200400"/>
          </a:xfrm>
        </p:spPr>
        <p:txBody>
          <a:bodyPr rtlCol="0"/>
          <a:lstStyle>
            <a:lvl1pPr>
              <a:buClrTx/>
              <a:buFont typeface="Wingdings" pitchFamily="2" charset="2"/>
              <a:buChar char="§"/>
              <a:defRPr sz="2100" b="1">
                <a:latin typeface="Calibri" pitchFamily="34" charset="0"/>
              </a:defRPr>
            </a:lvl1pPr>
            <a:lvl2pPr>
              <a:buClrTx/>
              <a:buFont typeface="Wingdings" pitchFamily="2" charset="2"/>
              <a:buChar char="o"/>
              <a:defRPr sz="1900" b="0">
                <a:latin typeface="Calibri Light" pitchFamily="34" charset="0"/>
              </a:defRPr>
            </a:lvl2pPr>
            <a:lvl3pPr>
              <a:buClrTx/>
              <a:buFont typeface="Wingdings" pitchFamily="2" charset="2"/>
              <a:buChar char="o"/>
              <a:defRPr sz="1700" b="0">
                <a:latin typeface="Calibri Light" pitchFamily="34" charset="0"/>
              </a:defRPr>
            </a:lvl3pPr>
            <a:lvl4pPr>
              <a:buClrTx/>
              <a:buFont typeface="Wingdings" pitchFamily="2" charset="2"/>
              <a:buChar char="o"/>
              <a:defRPr sz="1500" b="0">
                <a:latin typeface="Calibri Light" pitchFamily="34" charset="0"/>
              </a:defRPr>
            </a:lvl4pPr>
            <a:lvl5pPr>
              <a:buClrTx/>
              <a:buFont typeface="Wingdings" pitchFamily="2" charset="2"/>
              <a:buChar char="o"/>
              <a:defRPr sz="1300" b="0">
                <a:latin typeface="Calibri Light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/>
          <p:cNvSpPr txBox="1"/>
          <p:nvPr userDrawn="1"/>
        </p:nvSpPr>
        <p:spPr bwMode="auto">
          <a:xfrm>
            <a:off x="6477000" y="4774168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9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9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694347"/>
            <a:ext cx="1905000" cy="39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48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28700"/>
            <a:ext cx="8229600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24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/>
  </p:transition>
  <p:hf hdr="0" ftr="0" dt="0"/>
  <p:txStyles>
    <p:titleStyle>
      <a:lvl1pPr marL="0" indent="0" algn="ctr" defTabSz="-13873163" rtl="0" eaLnBrk="1" fontAlgn="base" hangingPunct="1">
        <a:spcBef>
          <a:spcPct val="0"/>
        </a:spcBef>
        <a:spcAft>
          <a:spcPct val="0"/>
        </a:spcAft>
        <a:defRPr lang="en-US" sz="2900" b="1" dirty="0" smtClean="0">
          <a:solidFill>
            <a:schemeClr val="tx2"/>
          </a:solidFill>
          <a:latin typeface="Calibri"/>
          <a:ea typeface="+mj-ea"/>
          <a:cs typeface="Segoe UI" pitchFamily="34" charset="0"/>
        </a:defRPr>
      </a:lvl1pPr>
      <a:lvl2pPr marL="342900" indent="-342900" algn="ctr" defTabSz="-1387316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Myriad Pro" pitchFamily="34" charset="0"/>
          <a:cs typeface="Segoe UI" pitchFamily="34" charset="0"/>
        </a:defRPr>
      </a:lvl2pPr>
      <a:lvl3pPr marL="342900" indent="-342900" algn="ctr" defTabSz="-1387316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Myriad Pro" pitchFamily="34" charset="0"/>
          <a:cs typeface="Segoe UI" pitchFamily="34" charset="0"/>
        </a:defRPr>
      </a:lvl3pPr>
      <a:lvl4pPr marL="342900" indent="-342900" algn="ctr" defTabSz="-1387316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Myriad Pro" pitchFamily="34" charset="0"/>
          <a:cs typeface="Segoe UI" pitchFamily="34" charset="0"/>
        </a:defRPr>
      </a:lvl4pPr>
      <a:lvl5pPr marL="342900" indent="-342900" algn="ctr" defTabSz="-1387316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Myriad Pro" pitchFamily="34" charset="0"/>
          <a:cs typeface="Segoe UI" pitchFamily="34" charset="0"/>
        </a:defRPr>
      </a:lvl5pPr>
      <a:lvl6pPr marL="457200" algn="l" eaLnBrk="1" fontAlgn="base" hangingPunct="1">
        <a:spcBef>
          <a:spcPct val="0"/>
        </a:spcBef>
        <a:spcAft>
          <a:spcPct val="0"/>
        </a:spcAft>
        <a:defRPr sz="2800" b="1">
          <a:solidFill>
            <a:schemeClr val="tx2">
              <a:alpha val="100000"/>
            </a:schemeClr>
          </a:solidFill>
          <a:latin typeface="Verdana"/>
        </a:defRPr>
      </a:lvl6pPr>
      <a:lvl7pPr marL="914400" algn="l" eaLnBrk="1" fontAlgn="base" hangingPunct="1">
        <a:spcBef>
          <a:spcPct val="0"/>
        </a:spcBef>
        <a:spcAft>
          <a:spcPct val="0"/>
        </a:spcAft>
        <a:defRPr sz="2800" b="1">
          <a:solidFill>
            <a:schemeClr val="tx2">
              <a:alpha val="100000"/>
            </a:schemeClr>
          </a:solidFill>
          <a:latin typeface="Verdana"/>
        </a:defRPr>
      </a:lvl7pPr>
      <a:lvl8pPr marL="1371600" algn="l" eaLnBrk="1" fontAlgn="base" hangingPunct="1">
        <a:spcBef>
          <a:spcPct val="0"/>
        </a:spcBef>
        <a:spcAft>
          <a:spcPct val="0"/>
        </a:spcAft>
        <a:defRPr sz="2800" b="1">
          <a:solidFill>
            <a:schemeClr val="tx2">
              <a:alpha val="100000"/>
            </a:schemeClr>
          </a:solidFill>
          <a:latin typeface="Verdana"/>
        </a:defRPr>
      </a:lvl8pPr>
      <a:lvl9pPr marL="1828800" algn="l" eaLnBrk="1" fontAlgn="base" hangingPunct="1">
        <a:spcBef>
          <a:spcPct val="0"/>
        </a:spcBef>
        <a:spcAft>
          <a:spcPct val="0"/>
        </a:spcAft>
        <a:defRPr sz="2800" b="1">
          <a:solidFill>
            <a:schemeClr val="tx2">
              <a:alpha val="100000"/>
            </a:schemeClr>
          </a:solidFill>
          <a:latin typeface="Verdana"/>
        </a:defRPr>
      </a:lvl9pPr>
    </p:titleStyle>
    <p:bodyStyle>
      <a:lvl1pPr marL="342900" indent="-342900" algn="l" defTabSz="-13873163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100" b="1">
          <a:solidFill>
            <a:schemeClr val="tx1"/>
          </a:solidFill>
          <a:latin typeface="Calibri" pitchFamily="34" charset="0"/>
          <a:ea typeface="+mn-ea"/>
          <a:cs typeface="Segoe UI" pitchFamily="34" charset="0"/>
        </a:defRPr>
      </a:lvl1pPr>
      <a:lvl2pPr marL="742950" indent="-285750" algn="l" defTabSz="-13873163" rtl="0" eaLnBrk="1" fontAlgn="base" hangingPunct="1">
        <a:spcBef>
          <a:spcPct val="20000"/>
        </a:spcBef>
        <a:spcAft>
          <a:spcPct val="0"/>
        </a:spcAft>
        <a:buSzPct val="50000"/>
        <a:buFont typeface="Wingdings" pitchFamily="2" charset="2"/>
        <a:buChar char="o"/>
        <a:defRPr sz="1900">
          <a:solidFill>
            <a:schemeClr val="tx1"/>
          </a:solidFill>
          <a:latin typeface="Calibri Light" pitchFamily="34" charset="0"/>
          <a:cs typeface="Segoe UI" pitchFamily="34" charset="0"/>
        </a:defRPr>
      </a:lvl2pPr>
      <a:lvl3pPr marL="1143000" indent="-228600" algn="l" defTabSz="-13873163" rtl="0" eaLnBrk="1" fontAlgn="base" hangingPunct="1">
        <a:spcBef>
          <a:spcPct val="20000"/>
        </a:spcBef>
        <a:spcAft>
          <a:spcPct val="0"/>
        </a:spcAft>
        <a:buSzPct val="50000"/>
        <a:buFont typeface="Wingdings" pitchFamily="2" charset="2"/>
        <a:buChar char="o"/>
        <a:defRPr sz="1700">
          <a:solidFill>
            <a:schemeClr val="tx1"/>
          </a:solidFill>
          <a:latin typeface="Calibri Light" pitchFamily="34" charset="0"/>
          <a:cs typeface="Segoe UI" pitchFamily="34" charset="0"/>
        </a:defRPr>
      </a:lvl3pPr>
      <a:lvl4pPr marL="1600200" indent="-228600" algn="l" defTabSz="-13873163" rtl="0" eaLnBrk="1" fontAlgn="base" hangingPunct="1">
        <a:spcBef>
          <a:spcPct val="20000"/>
        </a:spcBef>
        <a:spcAft>
          <a:spcPct val="0"/>
        </a:spcAft>
        <a:buSzPct val="50000"/>
        <a:buFont typeface="Wingdings" pitchFamily="2" charset="2"/>
        <a:buChar char="o"/>
        <a:defRPr sz="1500">
          <a:solidFill>
            <a:schemeClr val="tx1"/>
          </a:solidFill>
          <a:latin typeface="Calibri Light" pitchFamily="34" charset="0"/>
          <a:cs typeface="Segoe UI" pitchFamily="34" charset="0"/>
        </a:defRPr>
      </a:lvl4pPr>
      <a:lvl5pPr marL="2057400" indent="-228600" algn="l" defTabSz="-13873163" rtl="0" eaLnBrk="1" fontAlgn="base" hangingPunct="1">
        <a:spcBef>
          <a:spcPct val="20000"/>
        </a:spcBef>
        <a:spcAft>
          <a:spcPct val="0"/>
        </a:spcAft>
        <a:buSzPct val="50000"/>
        <a:buFont typeface="Wingdings" pitchFamily="2" charset="2"/>
        <a:buChar char="o"/>
        <a:defRPr sz="1300">
          <a:solidFill>
            <a:schemeClr val="tx1"/>
          </a:solidFill>
          <a:latin typeface="Calibri Light" pitchFamily="34" charset="0"/>
          <a:cs typeface="Segoe UI" pitchFamily="34" charset="0"/>
        </a:defRPr>
      </a:lvl5pPr>
      <a:lvl6pPr marL="2514600" indent="-228600" algn="l" eaLnBrk="1" fontAlgn="base" hangingPunct="1">
        <a:spcBef>
          <a:spcPct val="20000"/>
        </a:spcBef>
        <a:spcAft>
          <a:spcPct val="0"/>
        </a:spcAft>
        <a:buClr>
          <a:schemeClr val="accent1">
            <a:alpha val="100000"/>
          </a:schemeClr>
        </a:buClr>
        <a:buFont typeface="Wingdings"/>
        <a:buChar char=""/>
        <a:defRPr sz="1400" b="1">
          <a:solidFill>
            <a:schemeClr val="tx1">
              <a:alpha val="100000"/>
            </a:schemeClr>
          </a:solidFill>
          <a:latin typeface="+mn-lt"/>
        </a:defRPr>
      </a:lvl6pPr>
      <a:lvl7pPr marL="2971800" indent="-228600" algn="l" eaLnBrk="1" fontAlgn="base" hangingPunct="1">
        <a:spcBef>
          <a:spcPct val="20000"/>
        </a:spcBef>
        <a:spcAft>
          <a:spcPct val="0"/>
        </a:spcAft>
        <a:buClr>
          <a:schemeClr val="accent1">
            <a:alpha val="100000"/>
          </a:schemeClr>
        </a:buClr>
        <a:buFont typeface="Wingdings"/>
        <a:buChar char=""/>
        <a:defRPr sz="1400" b="1">
          <a:solidFill>
            <a:schemeClr val="tx1">
              <a:alpha val="100000"/>
            </a:schemeClr>
          </a:solidFill>
          <a:latin typeface="+mn-lt"/>
        </a:defRPr>
      </a:lvl7pPr>
      <a:lvl8pPr marL="3429000" indent="-228600" algn="l" eaLnBrk="1" fontAlgn="base" hangingPunct="1">
        <a:spcBef>
          <a:spcPct val="20000"/>
        </a:spcBef>
        <a:spcAft>
          <a:spcPct val="0"/>
        </a:spcAft>
        <a:buClr>
          <a:schemeClr val="accent1">
            <a:alpha val="100000"/>
          </a:schemeClr>
        </a:buClr>
        <a:buFont typeface="Wingdings"/>
        <a:buChar char=""/>
        <a:defRPr sz="1400" b="1">
          <a:solidFill>
            <a:schemeClr val="tx1">
              <a:alpha val="100000"/>
            </a:schemeClr>
          </a:solidFill>
          <a:latin typeface="+mn-lt"/>
        </a:defRPr>
      </a:lvl8pPr>
      <a:lvl9pPr marL="3886200" indent="-228600" algn="l" eaLnBrk="1" fontAlgn="base" hangingPunct="1">
        <a:spcBef>
          <a:spcPct val="20000"/>
        </a:spcBef>
        <a:spcAft>
          <a:spcPct val="0"/>
        </a:spcAft>
        <a:buClr>
          <a:schemeClr val="accent1">
            <a:alpha val="100000"/>
          </a:schemeClr>
        </a:buClr>
        <a:buFont typeface="Wingdings"/>
        <a:buChar char=""/>
        <a:defRPr sz="1400" b="1">
          <a:solidFill>
            <a:schemeClr val="tx1">
              <a:alpha val="100000"/>
            </a:schemeClr>
          </a:solidFill>
          <a:latin typeface="+mn-lt"/>
        </a:defRPr>
      </a:lvl9pPr>
    </p:bodyStyle>
    <p:otherStyle>
      <a:lvl1pPr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1pPr>
      <a:lvl2pPr marL="457200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2pPr>
      <a:lvl3pPr marL="914400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3pPr>
      <a:lvl4pPr marL="1371600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4pPr>
      <a:lvl5pPr marL="1828800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5pPr>
      <a:lvl6pPr marL="2286000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6pPr>
      <a:lvl7pPr marL="2743200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7pPr>
      <a:lvl8pPr marL="3200400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8pPr>
      <a:lvl9pPr marL="3657600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aka.ms/arm-omsal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aka.ms/arm-omsal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00050"/>
            <a:ext cx="7772400" cy="1543050"/>
          </a:xfrm>
        </p:spPr>
        <p:txBody>
          <a:bodyPr/>
          <a:lstStyle/>
          <a:p>
            <a:br>
              <a:rPr lang="en-US" sz="3600" dirty="0">
                <a:solidFill>
                  <a:srgbClr val="133D80"/>
                </a:solidFill>
              </a:rPr>
            </a:br>
            <a:r>
              <a:rPr lang="en-US" sz="3600" dirty="0">
                <a:solidFill>
                  <a:schemeClr val="accent1"/>
                </a:solidFill>
              </a:rPr>
              <a:t>Deploying for Day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2000250"/>
            <a:ext cx="6400800" cy="971550"/>
          </a:xfrm>
        </p:spPr>
        <p:txBody>
          <a:bodyPr/>
          <a:lstStyle/>
          <a:p>
            <a:r>
              <a:rPr lang="en-US" dirty="0"/>
              <a:t>Michael Greene</a:t>
            </a:r>
          </a:p>
          <a:p>
            <a:r>
              <a:rPr lang="en-US" dirty="0"/>
              <a:t>@migreene</a:t>
            </a:r>
          </a:p>
        </p:txBody>
      </p:sp>
    </p:spTree>
    <p:extLst>
      <p:ext uri="{BB962C8B-B14F-4D97-AF65-F5344CB8AC3E}">
        <p14:creationId xmlns:p14="http://schemas.microsoft.com/office/powerpoint/2010/main" val="20296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 xmlns:mv="urn:schemas-microsoft-com:mac:vml">
      <mp:transition xmlns:mp="http://schemas.microsoft.com/office/mac/powerpoint/2008/main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Cloud deployment transformation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BF92FAA5-FFD7-4A6C-870B-B41EF87B82D2}"/>
              </a:ext>
            </a:extLst>
          </p:cNvPr>
          <p:cNvSpPr/>
          <p:nvPr/>
        </p:nvSpPr>
        <p:spPr bwMode="auto">
          <a:xfrm>
            <a:off x="1600200" y="1123950"/>
            <a:ext cx="3048000" cy="1371600"/>
          </a:xfrm>
          <a:prstGeom prst="cloud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algn="ctr"/>
            <a:endParaRPr lang="en-US" sz="2000" dirty="0">
              <a:latin typeface="Tekton Pro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BE12F1-07AC-4D1F-880F-E18BA7768FA2}"/>
              </a:ext>
            </a:extLst>
          </p:cNvPr>
          <p:cNvCxnSpPr/>
          <p:nvPr/>
        </p:nvCxnSpPr>
        <p:spPr bwMode="auto">
          <a:xfrm>
            <a:off x="4800600" y="1352550"/>
            <a:ext cx="0" cy="320040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76FD05C-A816-476B-B7A6-7E61FA178678}"/>
              </a:ext>
            </a:extLst>
          </p:cNvPr>
          <p:cNvSpPr/>
          <p:nvPr/>
        </p:nvSpPr>
        <p:spPr bwMode="auto">
          <a:xfrm>
            <a:off x="228600" y="2990850"/>
            <a:ext cx="1524000" cy="990600"/>
          </a:xfrm>
          <a:prstGeom prst="rect">
            <a:avLst/>
          </a:prstGeom>
          <a:gradFill rotWithShape="1">
            <a:gsLst>
              <a:gs pos="0">
                <a:srgbClr val="A4D28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algn="ctr"/>
            <a:r>
              <a:rPr lang="en-US" sz="2000" dirty="0">
                <a:latin typeface="Tekton Pro" pitchFamily="34" charset="0"/>
              </a:rPr>
              <a:t>storage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181863-575C-4C06-AF4C-A9BBBD04C910}"/>
              </a:ext>
            </a:extLst>
          </p:cNvPr>
          <p:cNvSpPr/>
          <p:nvPr/>
        </p:nvSpPr>
        <p:spPr bwMode="auto">
          <a:xfrm>
            <a:off x="1447800" y="3181350"/>
            <a:ext cx="1524000" cy="990600"/>
          </a:xfrm>
          <a:prstGeom prst="rect">
            <a:avLst/>
          </a:prstGeom>
          <a:gradFill rotWithShape="1">
            <a:gsLst>
              <a:gs pos="0">
                <a:schemeClr val="accent6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algn="ctr"/>
            <a:r>
              <a:rPr lang="en-US" sz="2000" dirty="0">
                <a:latin typeface="Tekton Pro" pitchFamily="34" charset="0"/>
              </a:rPr>
              <a:t>networking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314F6A-190B-4340-A968-47658CA66E99}"/>
              </a:ext>
            </a:extLst>
          </p:cNvPr>
          <p:cNvSpPr/>
          <p:nvPr/>
        </p:nvSpPr>
        <p:spPr bwMode="auto">
          <a:xfrm>
            <a:off x="2819400" y="3371850"/>
            <a:ext cx="1524000" cy="990600"/>
          </a:xfrm>
          <a:prstGeom prst="rect">
            <a:avLst/>
          </a:prstGeom>
          <a:gradFill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algn="ctr"/>
            <a:r>
              <a:rPr lang="en-US" sz="2000" dirty="0">
                <a:latin typeface="Tekton Pro" pitchFamily="34" charset="0"/>
              </a:rPr>
              <a:t>virtual</a:t>
            </a:r>
          </a:p>
          <a:p>
            <a:pPr algn="ctr"/>
            <a:r>
              <a:rPr lang="en-US" sz="2000" dirty="0">
                <a:latin typeface="Tekton Pro" pitchFamily="34" charset="0"/>
              </a:rPr>
              <a:t>machine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836270-5B08-4041-A0D6-45F000F173F1}"/>
              </a:ext>
            </a:extLst>
          </p:cNvPr>
          <p:cNvCxnSpPr/>
          <p:nvPr/>
        </p:nvCxnSpPr>
        <p:spPr bwMode="auto">
          <a:xfrm flipV="1">
            <a:off x="1524000" y="2419350"/>
            <a:ext cx="381000" cy="381000"/>
          </a:xfrm>
          <a:prstGeom prst="straightConnector1">
            <a:avLst/>
          </a:prstGeom>
          <a:gradFill rotWithShape="1">
            <a:gsLst>
              <a:gs pos="0">
                <a:srgbClr val="A4D289"/>
              </a:gs>
              <a:gs pos="100000">
                <a:schemeClr val="bg1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5B276C-9119-4690-84BC-2C6162E77862}"/>
              </a:ext>
            </a:extLst>
          </p:cNvPr>
          <p:cNvCxnSpPr>
            <a:cxnSpLocks/>
          </p:cNvCxnSpPr>
          <p:nvPr/>
        </p:nvCxnSpPr>
        <p:spPr bwMode="auto">
          <a:xfrm flipV="1">
            <a:off x="2474002" y="2657475"/>
            <a:ext cx="239218" cy="419881"/>
          </a:xfrm>
          <a:prstGeom prst="straightConnector1">
            <a:avLst/>
          </a:prstGeom>
          <a:gradFill rotWithShape="1">
            <a:gsLst>
              <a:gs pos="0">
                <a:srgbClr val="A4D289"/>
              </a:gs>
              <a:gs pos="100000">
                <a:schemeClr val="bg1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7BED44-E458-4DF0-B6D7-742BF4AF1B2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581400" y="2495550"/>
            <a:ext cx="198620" cy="704850"/>
          </a:xfrm>
          <a:prstGeom prst="straightConnector1">
            <a:avLst/>
          </a:prstGeom>
          <a:gradFill rotWithShape="1">
            <a:gsLst>
              <a:gs pos="0">
                <a:srgbClr val="A4D289"/>
              </a:gs>
              <a:gs pos="100000">
                <a:schemeClr val="bg1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026" name="Picture 2" descr="http://memecrunch.com/meme/17D2T/wut/image.png">
            <a:extLst>
              <a:ext uri="{FF2B5EF4-FFF2-40B4-BE49-F238E27FC236}">
                <a16:creationId xmlns:a16="http://schemas.microsoft.com/office/drawing/2014/main" id="{8EC8732A-6421-48BC-A0A8-C717F6489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298" y="1657350"/>
            <a:ext cx="2103619" cy="210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E733F3-0E44-477E-8DF0-63B0AD465A97}"/>
              </a:ext>
            </a:extLst>
          </p:cNvPr>
          <p:cNvSpPr txBox="1"/>
          <p:nvPr/>
        </p:nvSpPr>
        <p:spPr bwMode="auto">
          <a:xfrm>
            <a:off x="319790" y="996434"/>
            <a:ext cx="225601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2060"/>
                </a:solidFill>
                <a:latin typeface="Tekton Pro" pitchFamily="34" charset="0"/>
              </a:rPr>
              <a:t>app owner: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B894C8-7B58-4D65-AA45-BDC2E45F5B4C}"/>
              </a:ext>
            </a:extLst>
          </p:cNvPr>
          <p:cNvSpPr txBox="1"/>
          <p:nvPr/>
        </p:nvSpPr>
        <p:spPr bwMode="auto">
          <a:xfrm>
            <a:off x="5105400" y="996434"/>
            <a:ext cx="225601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ekton Pro" pitchFamily="34" charset="0"/>
              </a:rPr>
              <a:t>o</a:t>
            </a:r>
            <a:r>
              <a:rPr lang="en-US" sz="1800" dirty="0">
                <a:solidFill>
                  <a:srgbClr val="002060"/>
                </a:solidFill>
                <a:latin typeface="Tekton Pro" pitchFamily="34" charset="0"/>
              </a:rPr>
              <a:t>perations/security: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161361-DFF4-4960-80DE-CB1A974C737E}"/>
              </a:ext>
            </a:extLst>
          </p:cNvPr>
          <p:cNvSpPr txBox="1"/>
          <p:nvPr/>
        </p:nvSpPr>
        <p:spPr bwMode="auto">
          <a:xfrm>
            <a:off x="5867400" y="3954780"/>
            <a:ext cx="259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ekton Pro" pitchFamily="34" charset="0"/>
              </a:rPr>
              <a:t>w</a:t>
            </a:r>
            <a:r>
              <a:rPr lang="en-US" sz="1800" dirty="0">
                <a:solidFill>
                  <a:srgbClr val="002060"/>
                </a:solidFill>
                <a:latin typeface="Tekton Pro" pitchFamily="34" charset="0"/>
              </a:rPr>
              <a:t>e have some questions</a:t>
            </a:r>
          </a:p>
        </p:txBody>
      </p:sp>
    </p:spTree>
    <p:extLst>
      <p:ext uri="{BB962C8B-B14F-4D97-AF65-F5344CB8AC3E}">
        <p14:creationId xmlns:p14="http://schemas.microsoft.com/office/powerpoint/2010/main" val="14553656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0.25 -0.308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543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56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33333E-6 -4.81481E-6 L 0.11666 -0.34537 " pathEditMode="relative" rAng="0" ptsTypes="AA">
                                      <p:cBhvr>
                                        <p:cTn id="15" dur="1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33" y="-17284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200"/>
                            </p:stCondLst>
                            <p:childTnLst>
                              <p:par>
                                <p:cTn id="2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6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33333E-6 -1.85185E-6 L -0.03334 -0.38518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-192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700"/>
                            </p:stCondLst>
                            <p:childTnLst>
                              <p:par>
                                <p:cTn id="2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2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2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Assertion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2038350"/>
            <a:ext cx="8229600" cy="476250"/>
          </a:xfrm>
        </p:spPr>
        <p:txBody>
          <a:bodyPr/>
          <a:lstStyle/>
          <a:p>
            <a:pPr marL="0" indent="0" algn="ctr">
              <a:buNone/>
            </a:pPr>
            <a:r>
              <a:rPr lang="en-US" b="0" dirty="0"/>
              <a:t>at least some of these VM’s will run for more than 1 month</a:t>
            </a:r>
          </a:p>
        </p:txBody>
      </p:sp>
    </p:spTree>
    <p:extLst>
      <p:ext uri="{BB962C8B-B14F-4D97-AF65-F5344CB8AC3E}">
        <p14:creationId xmlns:p14="http://schemas.microsoft.com/office/powerpoint/2010/main" val="162352376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Challenges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8229600" cy="1828800"/>
          </a:xfrm>
        </p:spPr>
        <p:txBody>
          <a:bodyPr/>
          <a:lstStyle/>
          <a:p>
            <a:pPr marL="0" indent="0" algn="ctr">
              <a:buNone/>
            </a:pPr>
            <a:r>
              <a:rPr lang="en-US" b="0" dirty="0"/>
              <a:t>these nodes will still need to be updated</a:t>
            </a:r>
          </a:p>
          <a:p>
            <a:pPr marL="0" indent="0" algn="ctr">
              <a:buNone/>
            </a:pPr>
            <a:r>
              <a:rPr lang="en-US" b="0" dirty="0"/>
              <a:t>diagnostic logs and information will still be critical post-mortem data</a:t>
            </a:r>
          </a:p>
          <a:p>
            <a:pPr marL="0" indent="0" algn="ctr">
              <a:buNone/>
            </a:pPr>
            <a:r>
              <a:rPr lang="en-US" b="0" dirty="0"/>
              <a:t>some part of the service will need a backup/recovery plan</a:t>
            </a:r>
          </a:p>
          <a:p>
            <a:pPr marL="0" indent="0" algn="ctr">
              <a:buNone/>
            </a:pPr>
            <a:r>
              <a:rPr lang="en-US" b="0" dirty="0"/>
              <a:t>organizations will still need to comply with policy</a:t>
            </a:r>
          </a:p>
        </p:txBody>
      </p:sp>
    </p:spTree>
    <p:extLst>
      <p:ext uri="{BB962C8B-B14F-4D97-AF65-F5344CB8AC3E}">
        <p14:creationId xmlns:p14="http://schemas.microsoft.com/office/powerpoint/2010/main" val="185830963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Hypothesis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2038350"/>
            <a:ext cx="8229600" cy="1066800"/>
          </a:xfrm>
        </p:spPr>
        <p:txBody>
          <a:bodyPr/>
          <a:lstStyle/>
          <a:p>
            <a:pPr marL="0" indent="0" algn="ctr">
              <a:buNone/>
            </a:pPr>
            <a:r>
              <a:rPr lang="en-US" b="0" dirty="0"/>
              <a:t>Operators can enable application owners to deploy sustainable services using modern practices.</a:t>
            </a:r>
          </a:p>
        </p:txBody>
      </p:sp>
    </p:spTree>
    <p:extLst>
      <p:ext uri="{BB962C8B-B14F-4D97-AF65-F5344CB8AC3E}">
        <p14:creationId xmlns:p14="http://schemas.microsoft.com/office/powerpoint/2010/main" val="135872854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Immutable servers</a:t>
            </a:r>
          </a:p>
          <a:p>
            <a:pPr lvl="1"/>
            <a:r>
              <a:rPr lang="en-US" dirty="0"/>
              <a:t>True North</a:t>
            </a:r>
          </a:p>
          <a:p>
            <a:pPr lvl="1"/>
            <a:r>
              <a:rPr lang="en-US" dirty="0"/>
              <a:t>Doesn’t eliminate the need for operational practice</a:t>
            </a:r>
          </a:p>
          <a:p>
            <a:r>
              <a:rPr lang="en-US" dirty="0"/>
              <a:t>Incremental delivery</a:t>
            </a:r>
          </a:p>
          <a:p>
            <a:pPr lvl="1"/>
            <a:r>
              <a:rPr lang="en-US" dirty="0"/>
              <a:t>Service existing application sets</a:t>
            </a:r>
          </a:p>
          <a:p>
            <a:pPr lvl="1"/>
            <a:r>
              <a:rPr lang="en-US" dirty="0"/>
              <a:t>Adopt practices from immutable strategies where possible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Sometimes cattle are a little bit pet-like</a:t>
            </a:r>
          </a:p>
        </p:txBody>
      </p:sp>
    </p:spTree>
    <p:extLst>
      <p:ext uri="{BB962C8B-B14F-4D97-AF65-F5344CB8AC3E}">
        <p14:creationId xmlns:p14="http://schemas.microsoft.com/office/powerpoint/2010/main" val="98854965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Define: deployment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Provision</a:t>
            </a:r>
          </a:p>
          <a:p>
            <a:pPr lvl="1"/>
            <a:r>
              <a:rPr lang="en-US" dirty="0"/>
              <a:t>Instantiate the environment</a:t>
            </a:r>
          </a:p>
          <a:p>
            <a:r>
              <a:rPr lang="en-US" dirty="0"/>
              <a:t>Deploy</a:t>
            </a:r>
          </a:p>
          <a:p>
            <a:pPr lvl="1"/>
            <a:r>
              <a:rPr lang="en-US" dirty="0"/>
              <a:t>Enable the resources that are sustained by the environment</a:t>
            </a:r>
          </a:p>
          <a:p>
            <a:r>
              <a:rPr lang="en-US" dirty="0"/>
              <a:t>Configure</a:t>
            </a:r>
          </a:p>
          <a:p>
            <a:pPr lvl="1"/>
            <a:r>
              <a:rPr lang="en-US" dirty="0"/>
              <a:t>Deliver the desired state of the resources</a:t>
            </a:r>
          </a:p>
          <a:p>
            <a:r>
              <a:rPr lang="en-US" dirty="0"/>
              <a:t>Install</a:t>
            </a:r>
          </a:p>
          <a:p>
            <a:pPr lvl="1"/>
            <a:r>
              <a:rPr lang="en-US" dirty="0"/>
              <a:t>Add external code</a:t>
            </a:r>
          </a:p>
        </p:txBody>
      </p:sp>
    </p:spTree>
    <p:extLst>
      <p:ext uri="{BB962C8B-B14F-4D97-AF65-F5344CB8AC3E}">
        <p14:creationId xmlns:p14="http://schemas.microsoft.com/office/powerpoint/2010/main" val="73398573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Provision</a:t>
            </a:r>
          </a:p>
          <a:p>
            <a:pPr lvl="1"/>
            <a:r>
              <a:rPr lang="en-US" dirty="0"/>
              <a:t>ARM, </a:t>
            </a:r>
            <a:r>
              <a:rPr lang="en-US" dirty="0" err="1"/>
              <a:t>Cloudformation</a:t>
            </a:r>
            <a:r>
              <a:rPr lang="en-US" dirty="0"/>
              <a:t>, Terraform</a:t>
            </a:r>
          </a:p>
          <a:p>
            <a:r>
              <a:rPr lang="en-US" dirty="0"/>
              <a:t>Deploy</a:t>
            </a:r>
          </a:p>
          <a:p>
            <a:pPr lvl="1"/>
            <a:r>
              <a:rPr lang="en-US" dirty="0"/>
              <a:t>OS/Container Image or Service content</a:t>
            </a:r>
          </a:p>
          <a:p>
            <a:r>
              <a:rPr lang="en-US" dirty="0"/>
              <a:t>Configure	</a:t>
            </a:r>
          </a:p>
          <a:p>
            <a:pPr lvl="1"/>
            <a:r>
              <a:rPr lang="en-US" dirty="0"/>
              <a:t>DSC, Ansible, Chef, Puppet, etc</a:t>
            </a:r>
          </a:p>
          <a:p>
            <a:r>
              <a:rPr lang="en-US" dirty="0"/>
              <a:t>Install</a:t>
            </a:r>
          </a:p>
          <a:p>
            <a:pPr lvl="1"/>
            <a:r>
              <a:rPr lang="en-US" dirty="0"/>
              <a:t>NuGet, MSI, EXE, etc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Map tools to definitions</a:t>
            </a:r>
          </a:p>
        </p:txBody>
      </p:sp>
    </p:spTree>
    <p:extLst>
      <p:ext uri="{BB962C8B-B14F-4D97-AF65-F5344CB8AC3E}">
        <p14:creationId xmlns:p14="http://schemas.microsoft.com/office/powerpoint/2010/main" val="69086785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Provision</a:t>
            </a:r>
          </a:p>
          <a:p>
            <a:r>
              <a:rPr lang="en-US" b="0" dirty="0"/>
              <a:t>Deploy</a:t>
            </a:r>
          </a:p>
          <a:p>
            <a:r>
              <a:rPr lang="en-US" b="0" dirty="0"/>
              <a:t>Configure</a:t>
            </a:r>
            <a:r>
              <a:rPr lang="en-US" dirty="0"/>
              <a:t> and Maintain</a:t>
            </a:r>
          </a:p>
          <a:p>
            <a:r>
              <a:rPr lang="en-US" b="0" dirty="0"/>
              <a:t>Install</a:t>
            </a:r>
          </a:p>
          <a:p>
            <a:r>
              <a:rPr lang="en-US" dirty="0"/>
              <a:t>Update</a:t>
            </a:r>
          </a:p>
          <a:p>
            <a:r>
              <a:rPr lang="en-US" dirty="0"/>
              <a:t>Monitor</a:t>
            </a:r>
          </a:p>
          <a:p>
            <a:r>
              <a:rPr lang="en-US" dirty="0"/>
              <a:t>Backup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Sustainable service roles (&gt;30 days)</a:t>
            </a:r>
          </a:p>
        </p:txBody>
      </p:sp>
    </p:spTree>
    <p:extLst>
      <p:ext uri="{BB962C8B-B14F-4D97-AF65-F5344CB8AC3E}">
        <p14:creationId xmlns:p14="http://schemas.microsoft.com/office/powerpoint/2010/main" val="264141562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Cursory view of Azure-</a:t>
            </a:r>
            <a:r>
              <a:rPr lang="en-US" dirty="0" err="1"/>
              <a:t>Quickstart</a:t>
            </a:r>
            <a:r>
              <a:rPr lang="en-US" dirty="0"/>
              <a:t>-Templates repo</a:t>
            </a:r>
          </a:p>
          <a:p>
            <a:pPr lvl="1"/>
            <a:r>
              <a:rPr lang="en-US" dirty="0"/>
              <a:t>16 contain “</a:t>
            </a:r>
            <a:r>
              <a:rPr lang="en-US" dirty="0" err="1"/>
              <a:t>Microsoft.OperationalInsights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10 contain “</a:t>
            </a:r>
            <a:r>
              <a:rPr lang="en-US" dirty="0" err="1"/>
              <a:t>Microsoft.Automation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2 contain “</a:t>
            </a:r>
            <a:r>
              <a:rPr lang="en-US" dirty="0" err="1"/>
              <a:t>Microsoft.Backup</a:t>
            </a:r>
            <a:r>
              <a:rPr lang="en-US" dirty="0"/>
              <a:t>”</a:t>
            </a:r>
          </a:p>
          <a:p>
            <a:r>
              <a:rPr lang="en-US" dirty="0"/>
              <a:t>Opportunity for innovative contribution</a:t>
            </a:r>
          </a:p>
          <a:p>
            <a:pPr lvl="1"/>
            <a:r>
              <a:rPr lang="en-US" dirty="0"/>
              <a:t>Think beyond deployment</a:t>
            </a:r>
          </a:p>
          <a:p>
            <a:pPr lvl="1"/>
            <a:r>
              <a:rPr lang="en-US" dirty="0"/>
              <a:t>Composable embedded templates in application templates</a:t>
            </a:r>
          </a:p>
          <a:p>
            <a:pPr lvl="1"/>
            <a:r>
              <a:rPr lang="en-US" dirty="0"/>
              <a:t>Refer to </a:t>
            </a:r>
            <a:r>
              <a:rPr lang="en-US" dirty="0">
                <a:hlinkClick r:id="rId2"/>
              </a:rPr>
              <a:t>http://aka.ms/arm-omsall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deployment template content</a:t>
            </a:r>
          </a:p>
        </p:txBody>
      </p:sp>
    </p:spTree>
    <p:extLst>
      <p:ext uri="{BB962C8B-B14F-4D97-AF65-F5344CB8AC3E}">
        <p14:creationId xmlns:p14="http://schemas.microsoft.com/office/powerpoint/2010/main" val="215361749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Operations Management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Automation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</a:t>
            </a:r>
          </a:p>
          <a:p>
            <a:pPr lvl="1"/>
            <a:r>
              <a:rPr lang="en-US" dirty="0"/>
              <a:t>Central Management of Distributed Task Execution (Runbooks)</a:t>
            </a:r>
          </a:p>
          <a:p>
            <a:pPr lvl="1"/>
            <a:r>
              <a:rPr lang="en-US" dirty="0"/>
              <a:t>Configuration Management</a:t>
            </a:r>
          </a:p>
          <a:p>
            <a:pPr lvl="1"/>
            <a:r>
              <a:rPr lang="en-US" dirty="0"/>
              <a:t>State Reporting</a:t>
            </a:r>
          </a:p>
          <a:p>
            <a:r>
              <a:rPr lang="en-US" dirty="0"/>
              <a:t>Design influences:</a:t>
            </a:r>
          </a:p>
          <a:p>
            <a:pPr lvl="1"/>
            <a:r>
              <a:rPr lang="en-US" dirty="0"/>
              <a:t>Consider common account across application resource groups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0F73CE-ADEB-40A0-BEEC-90E3395E0C2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132" y="1028700"/>
            <a:ext cx="3728278" cy="3676650"/>
          </a:xfrm>
        </p:spPr>
      </p:pic>
    </p:spTree>
    <p:extLst>
      <p:ext uri="{BB962C8B-B14F-4D97-AF65-F5344CB8AC3E}">
        <p14:creationId xmlns:p14="http://schemas.microsoft.com/office/powerpoint/2010/main" val="310740752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ARM sample – Automation Resource type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C3D0C-38BC-465E-A07B-98DE7101B1F3}"/>
              </a:ext>
            </a:extLst>
          </p:cNvPr>
          <p:cNvSpPr/>
          <p:nvPr/>
        </p:nvSpPr>
        <p:spPr>
          <a:xfrm>
            <a:off x="457200" y="800100"/>
            <a:ext cx="78486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chemeClr val="accent1"/>
                </a:solidFill>
                <a:latin typeface="Consolas" panose="020B0609020204030204" pitchFamily="49" charset="0"/>
              </a:rPr>
              <a:t> "type": "</a:t>
            </a:r>
            <a:r>
              <a:rPr lang="en-US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Microsoft.Automation</a:t>
            </a:r>
            <a:r>
              <a:rPr lang="en-US" sz="1400" dirty="0">
                <a:solidFill>
                  <a:schemeClr val="accent1"/>
                </a:solidFill>
                <a:latin typeface="Consolas" panose="020B0609020204030204" pitchFamily="49" charset="0"/>
              </a:rPr>
              <a:t>/</a:t>
            </a:r>
            <a:r>
              <a:rPr lang="en-US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automationAccounts</a:t>
            </a:r>
            <a:r>
              <a:rPr lang="en-US" sz="1400" dirty="0">
                <a:solidFill>
                  <a:schemeClr val="accent1"/>
                </a:solidFill>
                <a:latin typeface="Consolas" panose="020B0609020204030204" pitchFamily="49" charset="0"/>
              </a:rPr>
              <a:t>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"name": "[parameters('</a:t>
            </a:r>
            <a:r>
              <a:rPr lang="en-US" sz="1400" dirty="0" err="1">
                <a:latin typeface="Consolas" panose="020B0609020204030204" pitchFamily="49" charset="0"/>
              </a:rPr>
              <a:t>omsAutomationAccountName</a:t>
            </a:r>
            <a:r>
              <a:rPr lang="en-US" sz="1400" dirty="0">
                <a:latin typeface="Consolas" panose="020B0609020204030204" pitchFamily="49" charset="0"/>
              </a:rPr>
              <a:t>')]",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</a:t>
            </a:r>
            <a:r>
              <a:rPr lang="en-US" sz="1400" dirty="0" err="1">
                <a:latin typeface="Consolas" panose="020B0609020204030204" pitchFamily="49" charset="0"/>
              </a:rPr>
              <a:t>apiversion</a:t>
            </a:r>
            <a:r>
              <a:rPr lang="en-US" sz="1400" dirty="0">
                <a:latin typeface="Consolas" panose="020B0609020204030204" pitchFamily="49" charset="0"/>
              </a:rPr>
              <a:t>": "2015-10-31",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"location": "[parameters('</a:t>
            </a:r>
            <a:r>
              <a:rPr lang="en-US" sz="1400" dirty="0" err="1">
                <a:latin typeface="Consolas" panose="020B0609020204030204" pitchFamily="49" charset="0"/>
              </a:rPr>
              <a:t>omsAutomationRegion</a:t>
            </a:r>
            <a:r>
              <a:rPr lang="en-US" sz="1400" dirty="0">
                <a:latin typeface="Consolas" panose="020B0609020204030204" pitchFamily="49" charset="0"/>
              </a:rPr>
              <a:t>')]",</a:t>
            </a:r>
            <a:endParaRPr lang="en-US" sz="1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"comments": "Automation account for OMS",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"properties": 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chemeClr val="accent1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sku</a:t>
            </a:r>
            <a:r>
              <a:rPr lang="en-US" sz="1400" dirty="0">
                <a:solidFill>
                  <a:schemeClr val="accent1"/>
                </a:solidFill>
                <a:latin typeface="Consolas" panose="020B0609020204030204" pitchFamily="49" charset="0"/>
              </a:rPr>
              <a:t>": </a:t>
            </a:r>
            <a:r>
              <a:rPr lang="en-US" sz="1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"name": "free"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},</a:t>
            </a:r>
            <a:endParaRPr lang="en-US" sz="14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34382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ARM sample – Automation resource: variables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C3D0C-38BC-465E-A07B-98DE7101B1F3}"/>
              </a:ext>
            </a:extLst>
          </p:cNvPr>
          <p:cNvSpPr/>
          <p:nvPr/>
        </p:nvSpPr>
        <p:spPr>
          <a:xfrm>
            <a:off x="457200" y="800557"/>
            <a:ext cx="784860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"name": "[variables(‘</a:t>
            </a:r>
            <a:r>
              <a:rPr lang="en-US" sz="1200" dirty="0" err="1">
                <a:latin typeface="Consolas" panose="020B0609020204030204" pitchFamily="49" charset="0"/>
              </a:rPr>
              <a:t>variableName</a:t>
            </a:r>
            <a:r>
              <a:rPr lang="en-US" sz="1200" dirty="0">
                <a:latin typeface="Consolas" panose="020B0609020204030204" pitchFamily="49" charset="0"/>
              </a:rPr>
              <a:t>')]",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"type": "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variables</a:t>
            </a:r>
            <a:r>
              <a:rPr lang="en-US" sz="12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</a:t>
            </a:r>
            <a:r>
              <a:rPr lang="en-US" sz="1200" dirty="0" err="1">
                <a:latin typeface="Consolas" panose="020B0609020204030204" pitchFamily="49" charset="0"/>
              </a:rPr>
              <a:t>apiVersion</a:t>
            </a:r>
            <a:r>
              <a:rPr lang="en-US" sz="1200" dirty="0">
                <a:latin typeface="Consolas" panose="020B0609020204030204" pitchFamily="49" charset="0"/>
              </a:rPr>
              <a:t>": "2015-10-31",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</a:t>
            </a:r>
            <a:r>
              <a:rPr lang="en-US" sz="1200" dirty="0" err="1">
                <a:latin typeface="Consolas" panose="020B0609020204030204" pitchFamily="49" charset="0"/>
              </a:rPr>
              <a:t>dependsOn</a:t>
            </a:r>
            <a:r>
              <a:rPr lang="en-US" sz="1200" dirty="0">
                <a:latin typeface="Consolas" panose="020B0609020204030204" pitchFamily="49" charset="0"/>
              </a:rPr>
              <a:t>": [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"[</a:t>
            </a:r>
            <a:r>
              <a:rPr lang="en-US" sz="1200" dirty="0" err="1">
                <a:latin typeface="Consolas" panose="020B0609020204030204" pitchFamily="49" charset="0"/>
              </a:rPr>
              <a:t>concat</a:t>
            </a:r>
            <a:r>
              <a:rPr lang="en-US" sz="1200" dirty="0">
                <a:latin typeface="Consolas" panose="020B0609020204030204" pitchFamily="49" charset="0"/>
              </a:rPr>
              <a:t>('</a:t>
            </a:r>
            <a:r>
              <a:rPr lang="en-US" sz="1200" dirty="0" err="1">
                <a:latin typeface="Consolas" panose="020B0609020204030204" pitchFamily="49" charset="0"/>
              </a:rPr>
              <a:t>Microsoft.Automation</a:t>
            </a:r>
            <a:r>
              <a:rPr lang="en-US" sz="1200" dirty="0">
                <a:latin typeface="Consolas" panose="020B0609020204030204" pitchFamily="49" charset="0"/>
              </a:rPr>
              <a:t>/</a:t>
            </a:r>
            <a:r>
              <a:rPr lang="en-US" sz="1200" dirty="0" err="1">
                <a:latin typeface="Consolas" panose="020B0609020204030204" pitchFamily="49" charset="0"/>
              </a:rPr>
              <a:t>automationAccounts</a:t>
            </a:r>
            <a:r>
              <a:rPr lang="en-US" sz="1200" dirty="0">
                <a:latin typeface="Consolas" panose="020B0609020204030204" pitchFamily="49" charset="0"/>
              </a:rPr>
              <a:t>/',parameters('</a:t>
            </a:r>
            <a:r>
              <a:rPr lang="en-US" sz="1200" dirty="0" err="1">
                <a:latin typeface="Consolas" panose="020B0609020204030204" pitchFamily="49" charset="0"/>
              </a:rPr>
              <a:t>omsAutomationAccountName</a:t>
            </a:r>
            <a:r>
              <a:rPr lang="en-US" sz="1200" dirty="0">
                <a:latin typeface="Consolas" panose="020B0609020204030204" pitchFamily="49" charset="0"/>
              </a:rPr>
              <a:t>'))]"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],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"tags": { },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"properties":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description</a:t>
            </a:r>
            <a:r>
              <a:rPr lang="en-US" sz="1200" dirty="0">
                <a:latin typeface="Consolas" panose="020B0609020204030204" pitchFamily="49" charset="0"/>
              </a:rPr>
              <a:t>": “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name foo</a:t>
            </a:r>
            <a:r>
              <a:rPr lang="en-US" sz="12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latin typeface="Consolas" panose="020B0609020204030204" pitchFamily="49" charset="0"/>
              </a:rPr>
              <a:t>": “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value bar</a:t>
            </a:r>
            <a:r>
              <a:rPr lang="en-US" sz="1200" dirty="0">
                <a:latin typeface="Consolas" panose="020B0609020204030204" pitchFamily="49" charset="0"/>
              </a:rPr>
              <a:t>“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-or-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description</a:t>
            </a:r>
            <a:r>
              <a:rPr lang="en-US" sz="1200" dirty="0">
                <a:latin typeface="Consolas" panose="020B0609020204030204" pitchFamily="49" charset="0"/>
              </a:rPr>
              <a:t>": “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name foo</a:t>
            </a:r>
            <a:r>
              <a:rPr lang="en-US" sz="12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</a:t>
            </a:r>
            <a:r>
              <a:rPr lang="en-US" sz="1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userName</a:t>
            </a:r>
            <a:r>
              <a:rPr lang="en-US" sz="1200" dirty="0">
                <a:latin typeface="Consolas" panose="020B0609020204030204" pitchFamily="49" charset="0"/>
              </a:rPr>
              <a:t>": "[parameters(‘username’)]”,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password</a:t>
            </a:r>
            <a:r>
              <a:rPr lang="en-US" sz="1200" dirty="0">
                <a:latin typeface="Consolas" panose="020B0609020204030204" pitchFamily="49" charset="0"/>
              </a:rPr>
              <a:t>": "[parameters(‘password')]"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},</a:t>
            </a:r>
          </a:p>
        </p:txBody>
      </p:sp>
    </p:spTree>
    <p:extLst>
      <p:ext uri="{BB962C8B-B14F-4D97-AF65-F5344CB8AC3E}">
        <p14:creationId xmlns:p14="http://schemas.microsoft.com/office/powerpoint/2010/main" val="132878326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ARM sample – Automation resource: modules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C3D0C-38BC-465E-A07B-98DE7101B1F3}"/>
              </a:ext>
            </a:extLst>
          </p:cNvPr>
          <p:cNvSpPr/>
          <p:nvPr/>
        </p:nvSpPr>
        <p:spPr>
          <a:xfrm>
            <a:off x="457200" y="800100"/>
            <a:ext cx="78486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"name": "[variables('</a:t>
            </a:r>
            <a:r>
              <a:rPr lang="en-US" sz="1400" dirty="0" err="1">
                <a:latin typeface="Consolas" panose="020B0609020204030204" pitchFamily="49" charset="0"/>
              </a:rPr>
              <a:t>psModules</a:t>
            </a:r>
            <a:r>
              <a:rPr lang="en-US" sz="1400" dirty="0">
                <a:latin typeface="Consolas" panose="020B0609020204030204" pitchFamily="49" charset="0"/>
              </a:rPr>
              <a:t>’).Module.name]",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"type": "</a:t>
            </a:r>
            <a:r>
              <a:rPr lang="en-US" sz="1400" dirty="0">
                <a:solidFill>
                  <a:schemeClr val="accent1"/>
                </a:solidFill>
                <a:latin typeface="Consolas" panose="020B0609020204030204" pitchFamily="49" charset="0"/>
              </a:rPr>
              <a:t>Modules</a:t>
            </a:r>
            <a:r>
              <a:rPr lang="en-US" sz="14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</a:t>
            </a:r>
            <a:r>
              <a:rPr lang="en-US" sz="1400" dirty="0" err="1">
                <a:latin typeface="Consolas" panose="020B0609020204030204" pitchFamily="49" charset="0"/>
              </a:rPr>
              <a:t>apiVersion</a:t>
            </a:r>
            <a:r>
              <a:rPr lang="en-US" sz="1400" dirty="0">
                <a:latin typeface="Consolas" panose="020B0609020204030204" pitchFamily="49" charset="0"/>
              </a:rPr>
              <a:t>": "2015-10-31",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"tags": { 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"</a:t>
            </a:r>
            <a:r>
              <a:rPr lang="en-US" sz="1400" dirty="0" err="1">
                <a:latin typeface="Consolas" panose="020B0609020204030204" pitchFamily="49" charset="0"/>
              </a:rPr>
              <a:t>dependsOn</a:t>
            </a:r>
            <a:r>
              <a:rPr lang="en-US" sz="1400" dirty="0">
                <a:latin typeface="Consolas" panose="020B0609020204030204" pitchFamily="49" charset="0"/>
              </a:rPr>
              <a:t>": [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"[</a:t>
            </a:r>
            <a:r>
              <a:rPr lang="en-US" sz="1400" dirty="0" err="1">
                <a:latin typeface="Consolas" panose="020B0609020204030204" pitchFamily="49" charset="0"/>
              </a:rPr>
              <a:t>concat</a:t>
            </a:r>
            <a:r>
              <a:rPr lang="en-US" sz="1400" dirty="0">
                <a:latin typeface="Consolas" panose="020B0609020204030204" pitchFamily="49" charset="0"/>
              </a:rPr>
              <a:t>('</a:t>
            </a:r>
            <a:r>
              <a:rPr lang="en-US" sz="1400" dirty="0" err="1">
                <a:latin typeface="Consolas" panose="020B0609020204030204" pitchFamily="49" charset="0"/>
              </a:rPr>
              <a:t>Microsoft.Automation</a:t>
            </a:r>
            <a:r>
              <a:rPr lang="en-US" sz="1400" dirty="0">
                <a:latin typeface="Consolas" panose="020B0609020204030204" pitchFamily="49" charset="0"/>
              </a:rPr>
              <a:t>/</a:t>
            </a:r>
            <a:r>
              <a:rPr lang="en-US" sz="1400" dirty="0" err="1">
                <a:latin typeface="Consolas" panose="020B0609020204030204" pitchFamily="49" charset="0"/>
              </a:rPr>
              <a:t>automationAccounts</a:t>
            </a:r>
            <a:r>
              <a:rPr lang="en-US" sz="1400" dirty="0">
                <a:latin typeface="Consolas" panose="020B0609020204030204" pitchFamily="49" charset="0"/>
              </a:rPr>
              <a:t>/', parameters('</a:t>
            </a:r>
            <a:r>
              <a:rPr lang="en-US" sz="1400" dirty="0" err="1">
                <a:latin typeface="Consolas" panose="020B0609020204030204" pitchFamily="49" charset="0"/>
              </a:rPr>
              <a:t>omsAutomationAccountName</a:t>
            </a:r>
            <a:r>
              <a:rPr lang="en-US" sz="1400" dirty="0">
                <a:latin typeface="Consolas" panose="020B0609020204030204" pitchFamily="49" charset="0"/>
              </a:rPr>
              <a:t>'))]"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],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"properties": 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</a:t>
            </a:r>
            <a:r>
              <a:rPr lang="en-US" sz="1400" dirty="0" err="1">
                <a:latin typeface="Consolas" panose="020B0609020204030204" pitchFamily="49" charset="0"/>
              </a:rPr>
              <a:t>contentLink</a:t>
            </a:r>
            <a:r>
              <a:rPr lang="en-US" sz="1400" dirty="0">
                <a:latin typeface="Consolas" panose="020B0609020204030204" pitchFamily="49" charset="0"/>
              </a:rPr>
              <a:t>": 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"</a:t>
            </a:r>
            <a:r>
              <a:rPr lang="en-US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uri</a:t>
            </a:r>
            <a:r>
              <a:rPr lang="en-US" sz="1400" dirty="0">
                <a:latin typeface="Consolas" panose="020B0609020204030204" pitchFamily="49" charset="0"/>
              </a:rPr>
              <a:t>": "[variables('Modules’).Module.url]"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},</a:t>
            </a:r>
          </a:p>
        </p:txBody>
      </p:sp>
    </p:spTree>
    <p:extLst>
      <p:ext uri="{BB962C8B-B14F-4D97-AF65-F5344CB8AC3E}">
        <p14:creationId xmlns:p14="http://schemas.microsoft.com/office/powerpoint/2010/main" val="401283538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ARM sample – Automation resource: runbooks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C3D0C-38BC-465E-A07B-98DE7101B1F3}"/>
              </a:ext>
            </a:extLst>
          </p:cNvPr>
          <p:cNvSpPr/>
          <p:nvPr/>
        </p:nvSpPr>
        <p:spPr>
          <a:xfrm>
            <a:off x="455370" y="767298"/>
            <a:ext cx="868863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"name": "[variables('runbooks’).Runbook.name]",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“type": "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runbooks</a:t>
            </a:r>
            <a:r>
              <a:rPr lang="en-US" sz="11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</a:t>
            </a:r>
            <a:r>
              <a:rPr lang="en-US" sz="1100" dirty="0" err="1">
                <a:latin typeface="Consolas" panose="020B0609020204030204" pitchFamily="49" charset="0"/>
              </a:rPr>
              <a:t>apiVersion</a:t>
            </a:r>
            <a:r>
              <a:rPr lang="en-US" sz="1100" dirty="0">
                <a:latin typeface="Consolas" panose="020B0609020204030204" pitchFamily="49" charset="0"/>
              </a:rPr>
              <a:t>": "2015-10-31",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</a:t>
            </a:r>
            <a:r>
              <a:rPr lang="en-US" sz="1100" dirty="0" err="1">
                <a:latin typeface="Consolas" panose="020B0609020204030204" pitchFamily="49" charset="0"/>
              </a:rPr>
              <a:t>dependsOn</a:t>
            </a:r>
            <a:r>
              <a:rPr lang="en-US" sz="1100" dirty="0">
                <a:latin typeface="Consolas" panose="020B0609020204030204" pitchFamily="49" charset="0"/>
              </a:rPr>
              <a:t>": [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“[</a:t>
            </a:r>
            <a:r>
              <a:rPr lang="en-US" sz="1100" dirty="0" err="1">
                <a:latin typeface="Consolas" panose="020B0609020204030204" pitchFamily="49" charset="0"/>
              </a:rPr>
              <a:t>concat</a:t>
            </a:r>
            <a:r>
              <a:rPr lang="en-US" sz="1100" dirty="0">
                <a:latin typeface="Consolas" panose="020B0609020204030204" pitchFamily="49" charset="0"/>
              </a:rPr>
              <a:t>('</a:t>
            </a:r>
            <a:r>
              <a:rPr lang="en-US" sz="1100" dirty="0" err="1">
                <a:latin typeface="Consolas" panose="020B0609020204030204" pitchFamily="49" charset="0"/>
              </a:rPr>
              <a:t>Microsoft.Automation</a:t>
            </a:r>
            <a:r>
              <a:rPr lang="en-US" sz="1100" dirty="0">
                <a:latin typeface="Consolas" panose="020B0609020204030204" pitchFamily="49" charset="0"/>
              </a:rPr>
              <a:t>/</a:t>
            </a:r>
            <a:r>
              <a:rPr lang="en-US" sz="1100" dirty="0" err="1">
                <a:latin typeface="Consolas" panose="020B0609020204030204" pitchFamily="49" charset="0"/>
              </a:rPr>
              <a:t>automationAccounts</a:t>
            </a:r>
            <a:r>
              <a:rPr lang="en-US" sz="1100" dirty="0">
                <a:latin typeface="Consolas" panose="020B0609020204030204" pitchFamily="49" charset="0"/>
              </a:rPr>
              <a:t>/', parameters('</a:t>
            </a:r>
            <a:r>
              <a:rPr lang="en-US" sz="1100" dirty="0" err="1">
                <a:latin typeface="Consolas" panose="020B0609020204030204" pitchFamily="49" charset="0"/>
              </a:rPr>
              <a:t>omsAutomationAccountName</a:t>
            </a:r>
            <a:r>
              <a:rPr lang="en-US" sz="1100" dirty="0">
                <a:latin typeface="Consolas" panose="020B0609020204030204" pitchFamily="49" charset="0"/>
              </a:rPr>
              <a:t>'))]",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"[</a:t>
            </a:r>
            <a:r>
              <a:rPr lang="en-US" sz="1100" dirty="0" err="1">
                <a:latin typeface="Consolas" panose="020B0609020204030204" pitchFamily="49" charset="0"/>
              </a:rPr>
              <a:t>concat</a:t>
            </a:r>
            <a:r>
              <a:rPr lang="en-US" sz="1100" dirty="0">
                <a:latin typeface="Consolas" panose="020B0609020204030204" pitchFamily="49" charset="0"/>
              </a:rPr>
              <a:t>('</a:t>
            </a:r>
            <a:r>
              <a:rPr lang="en-US" sz="1100" dirty="0" err="1">
                <a:latin typeface="Consolas" panose="020B0609020204030204" pitchFamily="49" charset="0"/>
              </a:rPr>
              <a:t>Microsoft.Automation</a:t>
            </a:r>
            <a:r>
              <a:rPr lang="en-US" sz="1100" dirty="0">
                <a:latin typeface="Consolas" panose="020B0609020204030204" pitchFamily="49" charset="0"/>
              </a:rPr>
              <a:t>/</a:t>
            </a:r>
            <a:r>
              <a:rPr lang="en-US" sz="1100" dirty="0" err="1">
                <a:latin typeface="Consolas" panose="020B0609020204030204" pitchFamily="49" charset="0"/>
              </a:rPr>
              <a:t>automationAccounts</a:t>
            </a:r>
            <a:r>
              <a:rPr lang="en-US" sz="1100" dirty="0">
                <a:latin typeface="Consolas" panose="020B0609020204030204" pitchFamily="49" charset="0"/>
              </a:rPr>
              <a:t>/', parameters('</a:t>
            </a:r>
            <a:r>
              <a:rPr lang="en-US" sz="1100" dirty="0" err="1">
                <a:latin typeface="Consolas" panose="020B0609020204030204" pitchFamily="49" charset="0"/>
              </a:rPr>
              <a:t>omsAutomationAccountName</a:t>
            </a:r>
            <a:r>
              <a:rPr lang="en-US" sz="1100" dirty="0">
                <a:latin typeface="Consolas" panose="020B0609020204030204" pitchFamily="49" charset="0"/>
              </a:rPr>
              <a:t>'), '/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variables</a:t>
            </a:r>
            <a:r>
              <a:rPr lang="en-US" sz="1100" dirty="0">
                <a:latin typeface="Consolas" panose="020B0609020204030204" pitchFamily="49" charset="0"/>
              </a:rPr>
              <a:t>/’, variables(‘</a:t>
            </a:r>
            <a:r>
              <a:rPr lang="en-US" sz="1100" dirty="0" err="1">
                <a:latin typeface="Consolas" panose="020B0609020204030204" pitchFamily="49" charset="0"/>
              </a:rPr>
              <a:t>variableName</a:t>
            </a:r>
            <a:r>
              <a:rPr lang="en-US" sz="1100" dirty="0">
                <a:latin typeface="Consolas" panose="020B0609020204030204" pitchFamily="49" charset="0"/>
              </a:rPr>
              <a:t>'))]",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"[</a:t>
            </a:r>
            <a:r>
              <a:rPr lang="en-US" sz="1100" dirty="0" err="1">
                <a:latin typeface="Consolas" panose="020B0609020204030204" pitchFamily="49" charset="0"/>
              </a:rPr>
              <a:t>concat</a:t>
            </a:r>
            <a:r>
              <a:rPr lang="en-US" sz="1100" dirty="0">
                <a:latin typeface="Consolas" panose="020B0609020204030204" pitchFamily="49" charset="0"/>
              </a:rPr>
              <a:t>('</a:t>
            </a:r>
            <a:r>
              <a:rPr lang="en-US" sz="1100" dirty="0" err="1">
                <a:latin typeface="Consolas" panose="020B0609020204030204" pitchFamily="49" charset="0"/>
              </a:rPr>
              <a:t>Microsoft.Automation</a:t>
            </a:r>
            <a:r>
              <a:rPr lang="en-US" sz="1100" dirty="0">
                <a:latin typeface="Consolas" panose="020B0609020204030204" pitchFamily="49" charset="0"/>
              </a:rPr>
              <a:t>/</a:t>
            </a:r>
            <a:r>
              <a:rPr lang="en-US" sz="1100" dirty="0" err="1">
                <a:latin typeface="Consolas" panose="020B0609020204030204" pitchFamily="49" charset="0"/>
              </a:rPr>
              <a:t>automationAccounts</a:t>
            </a:r>
            <a:r>
              <a:rPr lang="en-US" sz="1100" dirty="0">
                <a:latin typeface="Consolas" panose="020B0609020204030204" pitchFamily="49" charset="0"/>
              </a:rPr>
              <a:t>/', parameters('</a:t>
            </a:r>
            <a:r>
              <a:rPr lang="en-US" sz="1100" dirty="0" err="1">
                <a:latin typeface="Consolas" panose="020B0609020204030204" pitchFamily="49" charset="0"/>
              </a:rPr>
              <a:t>omsAutomationAccountName</a:t>
            </a:r>
            <a:r>
              <a:rPr lang="en-US" sz="1100" dirty="0">
                <a:latin typeface="Consolas" panose="020B0609020204030204" pitchFamily="49" charset="0"/>
              </a:rPr>
              <a:t>'), ‘/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modules</a:t>
            </a:r>
            <a:r>
              <a:rPr lang="en-US" sz="1100" dirty="0">
                <a:latin typeface="Consolas" panose="020B0609020204030204" pitchFamily="49" charset="0"/>
              </a:rPr>
              <a:t>/', variables('Modules’).Module.name)]",  ],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"tags": { },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"properties":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“</a:t>
            </a:r>
            <a:r>
              <a:rPr lang="en-US" sz="1100" dirty="0" err="1">
                <a:solidFill>
                  <a:schemeClr val="accent1"/>
                </a:solidFill>
                <a:latin typeface="Consolas" panose="020B0609020204030204" pitchFamily="49" charset="0"/>
              </a:rPr>
              <a:t>runbookType</a:t>
            </a:r>
            <a:r>
              <a:rPr lang="en-US" sz="1100" dirty="0">
                <a:latin typeface="Consolas" panose="020B0609020204030204" pitchFamily="49" charset="0"/>
              </a:rPr>
              <a:t>": "[variables('runbooks’).</a:t>
            </a:r>
            <a:r>
              <a:rPr lang="en-US" sz="1100" dirty="0" err="1">
                <a:latin typeface="Consolas" panose="020B0609020204030204" pitchFamily="49" charset="0"/>
              </a:rPr>
              <a:t>Runbook.type</a:t>
            </a:r>
            <a:r>
              <a:rPr lang="en-US" sz="1100" dirty="0">
                <a:latin typeface="Consolas" panose="020B0609020204030204" pitchFamily="49" charset="0"/>
              </a:rPr>
              <a:t>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</a:t>
            </a:r>
            <a:r>
              <a:rPr lang="en-US" sz="1100" dirty="0" err="1">
                <a:solidFill>
                  <a:schemeClr val="accent1"/>
                </a:solidFill>
                <a:latin typeface="Consolas" panose="020B0609020204030204" pitchFamily="49" charset="0"/>
              </a:rPr>
              <a:t>logProgress</a:t>
            </a:r>
            <a:r>
              <a:rPr lang="en-US" sz="1100" dirty="0">
                <a:latin typeface="Consolas" panose="020B0609020204030204" pitchFamily="49" charset="0"/>
              </a:rPr>
              <a:t>": "false",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</a:t>
            </a:r>
            <a:r>
              <a:rPr lang="en-US" sz="1100" dirty="0" err="1">
                <a:solidFill>
                  <a:schemeClr val="accent1"/>
                </a:solidFill>
                <a:latin typeface="Consolas" panose="020B0609020204030204" pitchFamily="49" charset="0"/>
              </a:rPr>
              <a:t>logVerbose</a:t>
            </a:r>
            <a:r>
              <a:rPr lang="en-US" sz="1100" dirty="0">
                <a:latin typeface="Consolas" panose="020B0609020204030204" pitchFamily="49" charset="0"/>
              </a:rPr>
              <a:t>": "false",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description</a:t>
            </a:r>
            <a:r>
              <a:rPr lang="en-US" sz="1100" dirty="0">
                <a:latin typeface="Consolas" panose="020B0609020204030204" pitchFamily="49" charset="0"/>
              </a:rPr>
              <a:t>": "[variables('runbooks’).</a:t>
            </a:r>
            <a:r>
              <a:rPr lang="en-US" sz="1100" dirty="0" err="1">
                <a:latin typeface="Consolas" panose="020B0609020204030204" pitchFamily="49" charset="0"/>
              </a:rPr>
              <a:t>Runbook.description</a:t>
            </a:r>
            <a:r>
              <a:rPr lang="en-US" sz="1100" dirty="0">
                <a:latin typeface="Consolas" panose="020B0609020204030204" pitchFamily="49" charset="0"/>
              </a:rPr>
              <a:t>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</a:t>
            </a:r>
            <a:r>
              <a:rPr lang="en-US" sz="1100" dirty="0" err="1">
                <a:latin typeface="Consolas" panose="020B0609020204030204" pitchFamily="49" charset="0"/>
              </a:rPr>
              <a:t>publishContentLink</a:t>
            </a:r>
            <a:r>
              <a:rPr lang="en-US" sz="1100" dirty="0">
                <a:latin typeface="Consolas" panose="020B0609020204030204" pitchFamily="49" charset="0"/>
              </a:rPr>
              <a:t>":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"</a:t>
            </a:r>
            <a:r>
              <a:rPr lang="en-US" sz="1100" dirty="0" err="1">
                <a:solidFill>
                  <a:schemeClr val="accent1"/>
                </a:solidFill>
                <a:latin typeface="Consolas" panose="020B0609020204030204" pitchFamily="49" charset="0"/>
              </a:rPr>
              <a:t>uri</a:t>
            </a:r>
            <a:r>
              <a:rPr lang="en-US" sz="1100" dirty="0">
                <a:latin typeface="Consolas" panose="020B0609020204030204" pitchFamily="49" charset="0"/>
              </a:rPr>
              <a:t>": "[variables('runbooks’).</a:t>
            </a:r>
            <a:r>
              <a:rPr lang="en-US" sz="1100" dirty="0" err="1">
                <a:latin typeface="Consolas" panose="020B0609020204030204" pitchFamily="49" charset="0"/>
              </a:rPr>
              <a:t>Runbook.uri</a:t>
            </a:r>
            <a:r>
              <a:rPr lang="en-US" sz="1100" dirty="0">
                <a:latin typeface="Consolas" panose="020B0609020204030204" pitchFamily="49" charset="0"/>
              </a:rPr>
              <a:t>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"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version</a:t>
            </a:r>
            <a:r>
              <a:rPr lang="en-US" sz="1100" dirty="0">
                <a:latin typeface="Consolas" panose="020B0609020204030204" pitchFamily="49" charset="0"/>
              </a:rPr>
              <a:t>": "[variables('runbooks’).</a:t>
            </a:r>
            <a:r>
              <a:rPr lang="en-US" sz="1100" dirty="0" err="1">
                <a:latin typeface="Consolas" panose="020B0609020204030204" pitchFamily="49" charset="0"/>
              </a:rPr>
              <a:t>Runbook.version</a:t>
            </a:r>
            <a:r>
              <a:rPr lang="en-US" sz="1100" dirty="0">
                <a:latin typeface="Consolas" panose="020B0609020204030204" pitchFamily="49" charset="0"/>
              </a:rPr>
              <a:t>]"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911013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ARM sample – Automation resource: configuration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C3D0C-38BC-465E-A07B-98DE7101B1F3}"/>
              </a:ext>
            </a:extLst>
          </p:cNvPr>
          <p:cNvSpPr/>
          <p:nvPr/>
        </p:nvSpPr>
        <p:spPr>
          <a:xfrm>
            <a:off x="457200" y="800100"/>
            <a:ext cx="906780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"name": "[variables(‘configurations’).Configuration.name]",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"type": "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Configurations</a:t>
            </a:r>
            <a:r>
              <a:rPr lang="en-US" sz="11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</a:t>
            </a:r>
            <a:r>
              <a:rPr lang="en-US" sz="1100" dirty="0" err="1">
                <a:latin typeface="Consolas" panose="020B0609020204030204" pitchFamily="49" charset="0"/>
              </a:rPr>
              <a:t>apiVersion</a:t>
            </a:r>
            <a:r>
              <a:rPr lang="en-US" sz="1100" dirty="0">
                <a:latin typeface="Consolas" panose="020B0609020204030204" pitchFamily="49" charset="0"/>
              </a:rPr>
              <a:t>": "2015-10-31",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"tags": {},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</a:t>
            </a:r>
            <a:r>
              <a:rPr lang="en-US" sz="1100" dirty="0" err="1">
                <a:latin typeface="Consolas" panose="020B0609020204030204" pitchFamily="49" charset="0"/>
              </a:rPr>
              <a:t>dependsOn</a:t>
            </a:r>
            <a:r>
              <a:rPr lang="en-US" sz="1100" dirty="0">
                <a:latin typeface="Consolas" panose="020B0609020204030204" pitchFamily="49" charset="0"/>
              </a:rPr>
              <a:t>": [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“[</a:t>
            </a:r>
            <a:r>
              <a:rPr lang="en-US" sz="1100" dirty="0" err="1">
                <a:latin typeface="Consolas" panose="020B0609020204030204" pitchFamily="49" charset="0"/>
              </a:rPr>
              <a:t>concat</a:t>
            </a:r>
            <a:r>
              <a:rPr lang="en-US" sz="1100" dirty="0">
                <a:latin typeface="Consolas" panose="020B0609020204030204" pitchFamily="49" charset="0"/>
              </a:rPr>
              <a:t>('</a:t>
            </a:r>
            <a:r>
              <a:rPr lang="en-US" sz="1100" dirty="0" err="1">
                <a:latin typeface="Consolas" panose="020B0609020204030204" pitchFamily="49" charset="0"/>
              </a:rPr>
              <a:t>Microsoft.Automation</a:t>
            </a:r>
            <a:r>
              <a:rPr lang="en-US" sz="1100" dirty="0">
                <a:latin typeface="Consolas" panose="020B0609020204030204" pitchFamily="49" charset="0"/>
              </a:rPr>
              <a:t>/</a:t>
            </a:r>
            <a:r>
              <a:rPr lang="en-US" sz="1100" dirty="0" err="1">
                <a:latin typeface="Consolas" panose="020B0609020204030204" pitchFamily="49" charset="0"/>
              </a:rPr>
              <a:t>automationAccounts</a:t>
            </a:r>
            <a:r>
              <a:rPr lang="en-US" sz="1100" dirty="0">
                <a:latin typeface="Consolas" panose="020B0609020204030204" pitchFamily="49" charset="0"/>
              </a:rPr>
              <a:t>/', parameters('</a:t>
            </a:r>
            <a:r>
              <a:rPr lang="en-US" sz="1100" dirty="0" err="1">
                <a:latin typeface="Consolas" panose="020B0609020204030204" pitchFamily="49" charset="0"/>
              </a:rPr>
              <a:t>omsAutomationAccountName</a:t>
            </a:r>
            <a:r>
              <a:rPr lang="en-US" sz="1100" dirty="0">
                <a:latin typeface="Consolas" panose="020B0609020204030204" pitchFamily="49" charset="0"/>
              </a:rPr>
              <a:t>'))]",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"[</a:t>
            </a:r>
            <a:r>
              <a:rPr lang="en-US" sz="1100" dirty="0" err="1">
                <a:latin typeface="Consolas" panose="020B0609020204030204" pitchFamily="49" charset="0"/>
              </a:rPr>
              <a:t>concat</a:t>
            </a:r>
            <a:r>
              <a:rPr lang="en-US" sz="1100" dirty="0">
                <a:latin typeface="Consolas" panose="020B0609020204030204" pitchFamily="49" charset="0"/>
              </a:rPr>
              <a:t>('</a:t>
            </a:r>
            <a:r>
              <a:rPr lang="en-US" sz="1100" dirty="0" err="1">
                <a:latin typeface="Consolas" panose="020B0609020204030204" pitchFamily="49" charset="0"/>
              </a:rPr>
              <a:t>Microsoft.Automation</a:t>
            </a:r>
            <a:r>
              <a:rPr lang="en-US" sz="1100" dirty="0">
                <a:latin typeface="Consolas" panose="020B0609020204030204" pitchFamily="49" charset="0"/>
              </a:rPr>
              <a:t>/</a:t>
            </a:r>
            <a:r>
              <a:rPr lang="en-US" sz="1100" dirty="0" err="1">
                <a:latin typeface="Consolas" panose="020B0609020204030204" pitchFamily="49" charset="0"/>
              </a:rPr>
              <a:t>automationAccounts</a:t>
            </a:r>
            <a:r>
              <a:rPr lang="en-US" sz="1100" dirty="0">
                <a:latin typeface="Consolas" panose="020B0609020204030204" pitchFamily="49" charset="0"/>
              </a:rPr>
              <a:t>/', parameters('</a:t>
            </a:r>
            <a:r>
              <a:rPr lang="en-US" sz="1100" dirty="0" err="1">
                <a:latin typeface="Consolas" panose="020B0609020204030204" pitchFamily="49" charset="0"/>
              </a:rPr>
              <a:t>omsAutomationAccountName</a:t>
            </a:r>
            <a:r>
              <a:rPr lang="en-US" sz="1100" dirty="0">
                <a:latin typeface="Consolas" panose="020B0609020204030204" pitchFamily="49" charset="0"/>
              </a:rPr>
              <a:t>'), '/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variables</a:t>
            </a:r>
            <a:r>
              <a:rPr lang="en-US" sz="1100" dirty="0">
                <a:latin typeface="Consolas" panose="020B0609020204030204" pitchFamily="49" charset="0"/>
              </a:rPr>
              <a:t>/’, variables(‘</a:t>
            </a:r>
            <a:r>
              <a:rPr lang="en-US" sz="1100" dirty="0" err="1">
                <a:latin typeface="Consolas" panose="020B0609020204030204" pitchFamily="49" charset="0"/>
              </a:rPr>
              <a:t>variableName</a:t>
            </a:r>
            <a:r>
              <a:rPr lang="en-US" sz="1100" dirty="0">
                <a:latin typeface="Consolas" panose="020B0609020204030204" pitchFamily="49" charset="0"/>
              </a:rPr>
              <a:t>'))]",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"[</a:t>
            </a:r>
            <a:r>
              <a:rPr lang="en-US" sz="1100" dirty="0" err="1">
                <a:latin typeface="Consolas" panose="020B0609020204030204" pitchFamily="49" charset="0"/>
              </a:rPr>
              <a:t>concat</a:t>
            </a:r>
            <a:r>
              <a:rPr lang="en-US" sz="1100" dirty="0">
                <a:latin typeface="Consolas" panose="020B0609020204030204" pitchFamily="49" charset="0"/>
              </a:rPr>
              <a:t>('</a:t>
            </a:r>
            <a:r>
              <a:rPr lang="en-US" sz="1100" dirty="0" err="1">
                <a:latin typeface="Consolas" panose="020B0609020204030204" pitchFamily="49" charset="0"/>
              </a:rPr>
              <a:t>Microsoft.Automation</a:t>
            </a:r>
            <a:r>
              <a:rPr lang="en-US" sz="1100" dirty="0">
                <a:latin typeface="Consolas" panose="020B0609020204030204" pitchFamily="49" charset="0"/>
              </a:rPr>
              <a:t>/</a:t>
            </a:r>
            <a:r>
              <a:rPr lang="en-US" sz="1100" dirty="0" err="1">
                <a:latin typeface="Consolas" panose="020B0609020204030204" pitchFamily="49" charset="0"/>
              </a:rPr>
              <a:t>automationAccounts</a:t>
            </a:r>
            <a:r>
              <a:rPr lang="en-US" sz="1100" dirty="0">
                <a:latin typeface="Consolas" panose="020B0609020204030204" pitchFamily="49" charset="0"/>
              </a:rPr>
              <a:t>/', parameters('</a:t>
            </a:r>
            <a:r>
              <a:rPr lang="en-US" sz="1100" dirty="0" err="1">
                <a:latin typeface="Consolas" panose="020B0609020204030204" pitchFamily="49" charset="0"/>
              </a:rPr>
              <a:t>omsAutomationAccountName</a:t>
            </a:r>
            <a:r>
              <a:rPr lang="en-US" sz="1100" dirty="0">
                <a:latin typeface="Consolas" panose="020B0609020204030204" pitchFamily="49" charset="0"/>
              </a:rPr>
              <a:t>'), ‘/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modules</a:t>
            </a:r>
            <a:r>
              <a:rPr lang="en-US" sz="1100" dirty="0">
                <a:latin typeface="Consolas" panose="020B0609020204030204" pitchFamily="49" charset="0"/>
              </a:rPr>
              <a:t>/', variables('Modules’).Module.name)]",  ],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"properties":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</a:t>
            </a:r>
            <a:r>
              <a:rPr lang="en-US" sz="1100" dirty="0" err="1">
                <a:solidFill>
                  <a:schemeClr val="accent1"/>
                </a:solidFill>
                <a:latin typeface="Consolas" panose="020B0609020204030204" pitchFamily="49" charset="0"/>
              </a:rPr>
              <a:t>logVerbose</a:t>
            </a:r>
            <a:r>
              <a:rPr lang="en-US" sz="1100" dirty="0">
                <a:latin typeface="Consolas" panose="020B0609020204030204" pitchFamily="49" charset="0"/>
              </a:rPr>
              <a:t>": "false",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description</a:t>
            </a:r>
            <a:r>
              <a:rPr lang="en-US" sz="1100" dirty="0">
                <a:latin typeface="Consolas" panose="020B0609020204030204" pitchFamily="49" charset="0"/>
              </a:rPr>
              <a:t>": "[variables(configurations).</a:t>
            </a:r>
            <a:r>
              <a:rPr lang="en-US" sz="1100" dirty="0" err="1">
                <a:latin typeface="Consolas" panose="020B0609020204030204" pitchFamily="49" charset="0"/>
              </a:rPr>
              <a:t>Configuration.description</a:t>
            </a:r>
            <a:r>
              <a:rPr lang="en-US" sz="1100" dirty="0">
                <a:latin typeface="Consolas" panose="020B0609020204030204" pitchFamily="49" charset="0"/>
              </a:rPr>
              <a:t>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state</a:t>
            </a:r>
            <a:r>
              <a:rPr lang="en-US" sz="1100" dirty="0">
                <a:latin typeface="Consolas" panose="020B0609020204030204" pitchFamily="49" charset="0"/>
              </a:rPr>
              <a:t>": "Published",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overwrite</a:t>
            </a:r>
            <a:r>
              <a:rPr lang="en-US" sz="1100" dirty="0">
                <a:latin typeface="Consolas" panose="020B0609020204030204" pitchFamily="49" charset="0"/>
              </a:rPr>
              <a:t>": "[variables('configurations’). </a:t>
            </a:r>
            <a:r>
              <a:rPr lang="en-US" sz="1100" dirty="0" err="1">
                <a:latin typeface="Consolas" panose="020B0609020204030204" pitchFamily="49" charset="0"/>
              </a:rPr>
              <a:t>Configuration.overwrite</a:t>
            </a:r>
            <a:r>
              <a:rPr lang="en-US" sz="1100" dirty="0">
                <a:latin typeface="Consolas" panose="020B0609020204030204" pitchFamily="49" charset="0"/>
              </a:rPr>
              <a:t>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“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source</a:t>
            </a:r>
            <a:r>
              <a:rPr lang="en-US" sz="1100" dirty="0">
                <a:latin typeface="Consolas" panose="020B0609020204030204" pitchFamily="49" charset="0"/>
              </a:rPr>
              <a:t>":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"type": "</a:t>
            </a:r>
            <a:r>
              <a:rPr lang="en-US" sz="1100" dirty="0" err="1">
                <a:solidFill>
                  <a:schemeClr val="accent1"/>
                </a:solidFill>
                <a:latin typeface="Consolas" panose="020B0609020204030204" pitchFamily="49" charset="0"/>
              </a:rPr>
              <a:t>uri</a:t>
            </a:r>
            <a:r>
              <a:rPr lang="en-US" sz="11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“value": "[variables('configurations’). </a:t>
            </a:r>
            <a:r>
              <a:rPr lang="en-US" sz="1100" dirty="0" err="1">
                <a:latin typeface="Consolas" panose="020B0609020204030204" pitchFamily="49" charset="0"/>
              </a:rPr>
              <a:t>Configuration.uri</a:t>
            </a:r>
            <a:r>
              <a:rPr lang="en-US" sz="1100" dirty="0">
                <a:latin typeface="Consolas" panose="020B0609020204030204" pitchFamily="49" charset="0"/>
              </a:rPr>
              <a:t>]"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},</a:t>
            </a:r>
          </a:p>
        </p:txBody>
      </p:sp>
    </p:spTree>
    <p:extLst>
      <p:ext uri="{BB962C8B-B14F-4D97-AF65-F5344CB8AC3E}">
        <p14:creationId xmlns:p14="http://schemas.microsoft.com/office/powerpoint/2010/main" val="259517298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ARM sample – Automation resource: compilation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C3D0C-38BC-465E-A07B-98DE7101B1F3}"/>
              </a:ext>
            </a:extLst>
          </p:cNvPr>
          <p:cNvSpPr/>
          <p:nvPr/>
        </p:nvSpPr>
        <p:spPr>
          <a:xfrm>
            <a:off x="457200" y="800100"/>
            <a:ext cx="8686800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"name": "[variables(‘configurations’).</a:t>
            </a:r>
            <a:r>
              <a:rPr lang="en-US" sz="1100" dirty="0" err="1">
                <a:latin typeface="Consolas" panose="020B0609020204030204" pitchFamily="49" charset="0"/>
              </a:rPr>
              <a:t>Configuration.compilationjob</a:t>
            </a:r>
            <a:r>
              <a:rPr lang="en-US" sz="1100" dirty="0">
                <a:latin typeface="Consolas" panose="020B0609020204030204" pitchFamily="49" charset="0"/>
              </a:rPr>
              <a:t>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"type": "</a:t>
            </a:r>
            <a:r>
              <a:rPr lang="en-US" sz="11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Compilationjobs</a:t>
            </a:r>
            <a:r>
              <a:rPr lang="en-US" sz="11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</a:t>
            </a:r>
            <a:r>
              <a:rPr lang="en-US" sz="1100" dirty="0" err="1">
                <a:latin typeface="Consolas" panose="020B0609020204030204" pitchFamily="49" charset="0"/>
              </a:rPr>
              <a:t>apiVersion</a:t>
            </a:r>
            <a:r>
              <a:rPr lang="en-US" sz="1100" dirty="0">
                <a:latin typeface="Consolas" panose="020B0609020204030204" pitchFamily="49" charset="0"/>
              </a:rPr>
              <a:t>": "2015-10-31",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“tags": {},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</a:t>
            </a:r>
            <a:r>
              <a:rPr lang="en-US" sz="1100" dirty="0" err="1">
                <a:latin typeface="Consolas" panose="020B0609020204030204" pitchFamily="49" charset="0"/>
              </a:rPr>
              <a:t>dependsOn</a:t>
            </a:r>
            <a:r>
              <a:rPr lang="en-US" sz="1100" dirty="0">
                <a:latin typeface="Consolas" panose="020B0609020204030204" pitchFamily="49" charset="0"/>
              </a:rPr>
              <a:t>": [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“[</a:t>
            </a:r>
            <a:r>
              <a:rPr lang="en-US" sz="1100" dirty="0" err="1">
                <a:latin typeface="Consolas" panose="020B0609020204030204" pitchFamily="49" charset="0"/>
              </a:rPr>
              <a:t>concat</a:t>
            </a:r>
            <a:r>
              <a:rPr lang="en-US" sz="1100" dirty="0">
                <a:latin typeface="Consolas" panose="020B0609020204030204" pitchFamily="49" charset="0"/>
              </a:rPr>
              <a:t>('</a:t>
            </a:r>
            <a:r>
              <a:rPr lang="en-US" sz="1100" dirty="0" err="1">
                <a:latin typeface="Consolas" panose="020B0609020204030204" pitchFamily="49" charset="0"/>
              </a:rPr>
              <a:t>Microsoft.Automation</a:t>
            </a:r>
            <a:r>
              <a:rPr lang="en-US" sz="1100" dirty="0">
                <a:latin typeface="Consolas" panose="020B0609020204030204" pitchFamily="49" charset="0"/>
              </a:rPr>
              <a:t>/</a:t>
            </a:r>
            <a:r>
              <a:rPr lang="en-US" sz="1100" dirty="0" err="1">
                <a:latin typeface="Consolas" panose="020B0609020204030204" pitchFamily="49" charset="0"/>
              </a:rPr>
              <a:t>automationAccounts</a:t>
            </a:r>
            <a:r>
              <a:rPr lang="en-US" sz="1100" dirty="0">
                <a:latin typeface="Consolas" panose="020B0609020204030204" pitchFamily="49" charset="0"/>
              </a:rPr>
              <a:t>/', parameters('</a:t>
            </a:r>
            <a:r>
              <a:rPr lang="en-US" sz="1100" dirty="0" err="1">
                <a:latin typeface="Consolas" panose="020B0609020204030204" pitchFamily="49" charset="0"/>
              </a:rPr>
              <a:t>omsAutomationAccountName</a:t>
            </a:r>
            <a:r>
              <a:rPr lang="en-US" sz="1100" dirty="0">
                <a:latin typeface="Consolas" panose="020B0609020204030204" pitchFamily="49" charset="0"/>
              </a:rPr>
              <a:t>'))]",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"[</a:t>
            </a:r>
            <a:r>
              <a:rPr lang="en-US" sz="1100" dirty="0" err="1">
                <a:latin typeface="Consolas" panose="020B0609020204030204" pitchFamily="49" charset="0"/>
              </a:rPr>
              <a:t>concat</a:t>
            </a:r>
            <a:r>
              <a:rPr lang="en-US" sz="1100" dirty="0">
                <a:latin typeface="Consolas" panose="020B0609020204030204" pitchFamily="49" charset="0"/>
              </a:rPr>
              <a:t>('</a:t>
            </a:r>
            <a:r>
              <a:rPr lang="en-US" sz="1100" dirty="0" err="1">
                <a:latin typeface="Consolas" panose="020B0609020204030204" pitchFamily="49" charset="0"/>
              </a:rPr>
              <a:t>Microsoft.Automation</a:t>
            </a:r>
            <a:r>
              <a:rPr lang="en-US" sz="1100" dirty="0">
                <a:latin typeface="Consolas" panose="020B0609020204030204" pitchFamily="49" charset="0"/>
              </a:rPr>
              <a:t>/</a:t>
            </a:r>
            <a:r>
              <a:rPr lang="en-US" sz="1100" dirty="0" err="1">
                <a:latin typeface="Consolas" panose="020B0609020204030204" pitchFamily="49" charset="0"/>
              </a:rPr>
              <a:t>automationAccounts</a:t>
            </a:r>
            <a:r>
              <a:rPr lang="en-US" sz="1100" dirty="0">
                <a:latin typeface="Consolas" panose="020B0609020204030204" pitchFamily="49" charset="0"/>
              </a:rPr>
              <a:t>/', parameters('</a:t>
            </a:r>
            <a:r>
              <a:rPr lang="en-US" sz="1100" dirty="0" err="1">
                <a:latin typeface="Consolas" panose="020B0609020204030204" pitchFamily="49" charset="0"/>
              </a:rPr>
              <a:t>omsAutomationAccountName</a:t>
            </a:r>
            <a:r>
              <a:rPr lang="en-US" sz="1100" dirty="0">
                <a:latin typeface="Consolas" panose="020B0609020204030204" pitchFamily="49" charset="0"/>
              </a:rPr>
              <a:t>'), '/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variables</a:t>
            </a:r>
            <a:r>
              <a:rPr lang="en-US" sz="1100" dirty="0">
                <a:latin typeface="Consolas" panose="020B0609020204030204" pitchFamily="49" charset="0"/>
              </a:rPr>
              <a:t>/’, variables(‘</a:t>
            </a:r>
            <a:r>
              <a:rPr lang="en-US" sz="1100" dirty="0" err="1">
                <a:latin typeface="Consolas" panose="020B0609020204030204" pitchFamily="49" charset="0"/>
              </a:rPr>
              <a:t>variableName</a:t>
            </a:r>
            <a:r>
              <a:rPr lang="en-US" sz="1100" dirty="0">
                <a:latin typeface="Consolas" panose="020B0609020204030204" pitchFamily="49" charset="0"/>
              </a:rPr>
              <a:t>'))]",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"[</a:t>
            </a:r>
            <a:r>
              <a:rPr lang="en-US" sz="1100" dirty="0" err="1">
                <a:latin typeface="Consolas" panose="020B0609020204030204" pitchFamily="49" charset="0"/>
              </a:rPr>
              <a:t>concat</a:t>
            </a:r>
            <a:r>
              <a:rPr lang="en-US" sz="1100" dirty="0">
                <a:latin typeface="Consolas" panose="020B0609020204030204" pitchFamily="49" charset="0"/>
              </a:rPr>
              <a:t>('</a:t>
            </a:r>
            <a:r>
              <a:rPr lang="en-US" sz="1100" dirty="0" err="1">
                <a:latin typeface="Consolas" panose="020B0609020204030204" pitchFamily="49" charset="0"/>
              </a:rPr>
              <a:t>Microsoft.Automation</a:t>
            </a:r>
            <a:r>
              <a:rPr lang="en-US" sz="1100" dirty="0">
                <a:latin typeface="Consolas" panose="020B0609020204030204" pitchFamily="49" charset="0"/>
              </a:rPr>
              <a:t>/</a:t>
            </a:r>
            <a:r>
              <a:rPr lang="en-US" sz="1100" dirty="0" err="1">
                <a:latin typeface="Consolas" panose="020B0609020204030204" pitchFamily="49" charset="0"/>
              </a:rPr>
              <a:t>automationAccounts</a:t>
            </a:r>
            <a:r>
              <a:rPr lang="en-US" sz="1100" dirty="0">
                <a:latin typeface="Consolas" panose="020B0609020204030204" pitchFamily="49" charset="0"/>
              </a:rPr>
              <a:t>/', parameters('</a:t>
            </a:r>
            <a:r>
              <a:rPr lang="en-US" sz="1100" dirty="0" err="1">
                <a:latin typeface="Consolas" panose="020B0609020204030204" pitchFamily="49" charset="0"/>
              </a:rPr>
              <a:t>omsAutomationAccountName</a:t>
            </a:r>
            <a:r>
              <a:rPr lang="en-US" sz="1100" dirty="0">
                <a:latin typeface="Consolas" panose="020B0609020204030204" pitchFamily="49" charset="0"/>
              </a:rPr>
              <a:t>'), ‘/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modules</a:t>
            </a:r>
            <a:r>
              <a:rPr lang="en-US" sz="1100" dirty="0">
                <a:latin typeface="Consolas" panose="020B0609020204030204" pitchFamily="49" charset="0"/>
              </a:rPr>
              <a:t>/', variables('Modules’).Module.name)]",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"[</a:t>
            </a:r>
            <a:r>
              <a:rPr lang="en-US" sz="1100" dirty="0" err="1">
                <a:latin typeface="Consolas" panose="020B0609020204030204" pitchFamily="49" charset="0"/>
              </a:rPr>
              <a:t>concat</a:t>
            </a:r>
            <a:r>
              <a:rPr lang="en-US" sz="1100" dirty="0">
                <a:latin typeface="Consolas" panose="020B0609020204030204" pitchFamily="49" charset="0"/>
              </a:rPr>
              <a:t>('</a:t>
            </a:r>
            <a:r>
              <a:rPr lang="en-US" sz="1100" dirty="0" err="1">
                <a:latin typeface="Consolas" panose="020B0609020204030204" pitchFamily="49" charset="0"/>
              </a:rPr>
              <a:t>Microsoft.Automation</a:t>
            </a:r>
            <a:r>
              <a:rPr lang="en-US" sz="1100" dirty="0">
                <a:latin typeface="Consolas" panose="020B0609020204030204" pitchFamily="49" charset="0"/>
              </a:rPr>
              <a:t>/</a:t>
            </a:r>
            <a:r>
              <a:rPr lang="en-US" sz="1100" dirty="0" err="1">
                <a:latin typeface="Consolas" panose="020B0609020204030204" pitchFamily="49" charset="0"/>
              </a:rPr>
              <a:t>automationAccounts</a:t>
            </a:r>
            <a:r>
              <a:rPr lang="en-US" sz="1100" dirty="0">
                <a:latin typeface="Consolas" panose="020B0609020204030204" pitchFamily="49" charset="0"/>
              </a:rPr>
              <a:t>/', parameters('</a:t>
            </a:r>
            <a:r>
              <a:rPr lang="en-US" sz="1100" dirty="0" err="1">
                <a:latin typeface="Consolas" panose="020B0609020204030204" pitchFamily="49" charset="0"/>
              </a:rPr>
              <a:t>omsAutomationAccountName</a:t>
            </a:r>
            <a:r>
              <a:rPr lang="en-US" sz="1100" dirty="0">
                <a:latin typeface="Consolas" panose="020B0609020204030204" pitchFamily="49" charset="0"/>
              </a:rPr>
              <a:t>'), ‘/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configurations</a:t>
            </a:r>
            <a:r>
              <a:rPr lang="en-US" sz="1100" dirty="0">
                <a:latin typeface="Consolas" panose="020B0609020204030204" pitchFamily="49" charset="0"/>
              </a:rPr>
              <a:t>/', variables(‘Configurations’).Configuration.name)]",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],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"properties":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"</a:t>
            </a:r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configuration</a:t>
            </a:r>
            <a:r>
              <a:rPr lang="en-US" sz="1100" dirty="0">
                <a:latin typeface="Consolas" panose="020B0609020204030204" pitchFamily="49" charset="0"/>
              </a:rPr>
              <a:t>":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"name": "[variables('configurations’). Configuration.name]"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978382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Operations Management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Log Analytics (OMS Workspace)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</a:t>
            </a:r>
          </a:p>
          <a:p>
            <a:pPr lvl="1"/>
            <a:r>
              <a:rPr lang="en-US" dirty="0"/>
              <a:t>Collect information from guest nodes</a:t>
            </a:r>
          </a:p>
          <a:p>
            <a:pPr lvl="1"/>
            <a:r>
              <a:rPr lang="en-US" dirty="0"/>
              <a:t>Monitoring / Alerting</a:t>
            </a:r>
          </a:p>
          <a:p>
            <a:pPr lvl="1"/>
            <a:r>
              <a:rPr lang="en-US" dirty="0"/>
              <a:t>Reporting / Dashboard</a:t>
            </a:r>
          </a:p>
          <a:p>
            <a:pPr lvl="1"/>
            <a:r>
              <a:rPr lang="en-US" dirty="0"/>
              <a:t>Solutions</a:t>
            </a:r>
          </a:p>
          <a:p>
            <a:r>
              <a:rPr lang="en-US" dirty="0"/>
              <a:t>Design influences:</a:t>
            </a:r>
          </a:p>
          <a:p>
            <a:pPr lvl="1"/>
            <a:r>
              <a:rPr lang="en-US" dirty="0"/>
              <a:t>Consider common account across application resource groups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0393DC-3725-49DC-92BD-94654ECA487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440702"/>
            <a:ext cx="4022725" cy="2376396"/>
          </a:xfrm>
        </p:spPr>
      </p:pic>
    </p:spTree>
    <p:extLst>
      <p:ext uri="{BB962C8B-B14F-4D97-AF65-F5344CB8AC3E}">
        <p14:creationId xmlns:p14="http://schemas.microsoft.com/office/powerpoint/2010/main" val="170764352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ARM sample – OMS Workspace Resource type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C3D0C-38BC-465E-A07B-98DE7101B1F3}"/>
              </a:ext>
            </a:extLst>
          </p:cNvPr>
          <p:cNvSpPr/>
          <p:nvPr/>
        </p:nvSpPr>
        <p:spPr>
          <a:xfrm>
            <a:off x="457200" y="800100"/>
            <a:ext cx="78486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chemeClr val="accent1"/>
                </a:solidFill>
                <a:latin typeface="Consolas" panose="020B0609020204030204" pitchFamily="49" charset="0"/>
              </a:rPr>
              <a:t>  "type": "</a:t>
            </a:r>
            <a:r>
              <a:rPr lang="en-US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Microsoft.OperationalInsights</a:t>
            </a:r>
            <a:r>
              <a:rPr lang="en-US" sz="1400" dirty="0">
                <a:solidFill>
                  <a:schemeClr val="accent1"/>
                </a:solidFill>
                <a:latin typeface="Consolas" panose="020B0609020204030204" pitchFamily="49" charset="0"/>
              </a:rPr>
              <a:t>/workspaces",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"name": "[parameters('</a:t>
            </a:r>
            <a:r>
              <a:rPr lang="en-US" sz="1400" dirty="0" err="1">
                <a:latin typeface="Consolas" panose="020B0609020204030204" pitchFamily="49" charset="0"/>
              </a:rPr>
              <a:t>omsWorkspaceName</a:t>
            </a:r>
            <a:r>
              <a:rPr lang="en-US" sz="1400" dirty="0">
                <a:latin typeface="Consolas" panose="020B0609020204030204" pitchFamily="49" charset="0"/>
              </a:rPr>
              <a:t>')]",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</a:t>
            </a:r>
            <a:r>
              <a:rPr lang="en-US" sz="1400" dirty="0" err="1">
                <a:latin typeface="Consolas" panose="020B0609020204030204" pitchFamily="49" charset="0"/>
              </a:rPr>
              <a:t>apiVersion</a:t>
            </a:r>
            <a:r>
              <a:rPr lang="en-US" sz="1400" dirty="0">
                <a:latin typeface="Consolas" panose="020B0609020204030204" pitchFamily="49" charset="0"/>
              </a:rPr>
              <a:t>": "2015-11-01-preview",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"location": "[parameters('</a:t>
            </a:r>
            <a:r>
              <a:rPr lang="en-US" sz="1400" dirty="0" err="1">
                <a:latin typeface="Consolas" panose="020B0609020204030204" pitchFamily="49" charset="0"/>
              </a:rPr>
              <a:t>omsWorkspaceRegion</a:t>
            </a:r>
            <a:r>
              <a:rPr lang="en-US" sz="1400" dirty="0">
                <a:latin typeface="Consolas" panose="020B0609020204030204" pitchFamily="49" charset="0"/>
              </a:rPr>
              <a:t>')]",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"comments": "Log Analytics workspace",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"properties": 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"</a:t>
            </a:r>
            <a:r>
              <a:rPr lang="en-US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sku</a:t>
            </a:r>
            <a:r>
              <a:rPr lang="en-US" sz="1400" dirty="0">
                <a:latin typeface="Consolas" panose="020B0609020204030204" pitchFamily="49" charset="0"/>
              </a:rPr>
              <a:t>": 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"name": “free"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},</a:t>
            </a:r>
          </a:p>
        </p:txBody>
      </p:sp>
    </p:spTree>
    <p:extLst>
      <p:ext uri="{BB962C8B-B14F-4D97-AF65-F5344CB8AC3E}">
        <p14:creationId xmlns:p14="http://schemas.microsoft.com/office/powerpoint/2010/main" val="317724746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ARM sample – Workspace resource: </a:t>
            </a:r>
            <a:r>
              <a:rPr lang="en-US" dirty="0" err="1">
                <a:solidFill>
                  <a:schemeClr val="accent1"/>
                </a:solidFill>
              </a:rPr>
              <a:t>datasource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C3D0C-38BC-465E-A07B-98DE7101B1F3}"/>
              </a:ext>
            </a:extLst>
          </p:cNvPr>
          <p:cNvSpPr/>
          <p:nvPr/>
        </p:nvSpPr>
        <p:spPr>
          <a:xfrm>
            <a:off x="457200" y="800557"/>
            <a:ext cx="8686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{</a:t>
            </a:r>
          </a:p>
          <a:p>
            <a:r>
              <a:rPr lang="en-US" sz="1400" dirty="0"/>
              <a:t>  "name": "</a:t>
            </a:r>
            <a:r>
              <a:rPr lang="en-US" sz="1400" dirty="0" err="1"/>
              <a:t>AzureActivityLog</a:t>
            </a:r>
            <a:r>
              <a:rPr lang="en-US" sz="1400" dirty="0"/>
              <a:t>",</a:t>
            </a:r>
          </a:p>
          <a:p>
            <a:r>
              <a:rPr lang="en-US" sz="1400" dirty="0"/>
              <a:t>  "type": "</a:t>
            </a:r>
            <a:r>
              <a:rPr lang="en-US" sz="1400" dirty="0" err="1">
                <a:solidFill>
                  <a:schemeClr val="accent1"/>
                </a:solidFill>
              </a:rPr>
              <a:t>datasources</a:t>
            </a:r>
            <a:r>
              <a:rPr lang="en-US" sz="1400" dirty="0"/>
              <a:t>",</a:t>
            </a:r>
          </a:p>
          <a:p>
            <a:r>
              <a:rPr lang="en-US" sz="1400" dirty="0"/>
              <a:t>  "</a:t>
            </a:r>
            <a:r>
              <a:rPr lang="en-US" sz="1400" dirty="0" err="1"/>
              <a:t>apiVersion</a:t>
            </a:r>
            <a:r>
              <a:rPr lang="en-US" sz="1400" dirty="0"/>
              <a:t>": "2015-11-01-preview",</a:t>
            </a:r>
          </a:p>
          <a:p>
            <a:r>
              <a:rPr lang="en-US" sz="1400" dirty="0"/>
              <a:t>  "</a:t>
            </a:r>
            <a:r>
              <a:rPr lang="en-US" sz="1400" dirty="0" err="1"/>
              <a:t>dependsOn</a:t>
            </a:r>
            <a:r>
              <a:rPr lang="en-US" sz="1400" dirty="0"/>
              <a:t>": [</a:t>
            </a:r>
          </a:p>
          <a:p>
            <a:r>
              <a:rPr lang="en-US" sz="1400" dirty="0"/>
              <a:t>    "[</a:t>
            </a:r>
            <a:r>
              <a:rPr lang="en-US" sz="1400" dirty="0" err="1"/>
              <a:t>concat</a:t>
            </a:r>
            <a:r>
              <a:rPr lang="en-US" sz="1400" dirty="0"/>
              <a:t>('</a:t>
            </a:r>
            <a:r>
              <a:rPr lang="en-US" sz="1400" dirty="0" err="1"/>
              <a:t>Microsoft.OperationalInsights</a:t>
            </a:r>
            <a:r>
              <a:rPr lang="en-US" sz="1400" dirty="0"/>
              <a:t>/workspaces/', parameters('</a:t>
            </a:r>
            <a:r>
              <a:rPr lang="en-US" sz="1400" dirty="0" err="1"/>
              <a:t>omsWorkspaceName</a:t>
            </a:r>
            <a:r>
              <a:rPr lang="en-US" sz="1400" dirty="0"/>
              <a:t>'))]"</a:t>
            </a:r>
          </a:p>
          <a:p>
            <a:r>
              <a:rPr lang="en-US" sz="1400" dirty="0"/>
              <a:t>],</a:t>
            </a:r>
          </a:p>
          <a:p>
            <a:r>
              <a:rPr lang="en-US" sz="1400" dirty="0"/>
              <a:t>  "</a:t>
            </a:r>
            <a:r>
              <a:rPr lang="en-US" sz="1400" dirty="0">
                <a:solidFill>
                  <a:schemeClr val="accent1"/>
                </a:solidFill>
              </a:rPr>
              <a:t>kind</a:t>
            </a:r>
            <a:r>
              <a:rPr lang="en-US" sz="1400" dirty="0"/>
              <a:t>": "</a:t>
            </a:r>
            <a:r>
              <a:rPr lang="en-US" sz="1400" dirty="0" err="1"/>
              <a:t>AzureActivityLog</a:t>
            </a:r>
            <a:r>
              <a:rPr lang="en-US" sz="1400" dirty="0"/>
              <a:t>",</a:t>
            </a:r>
          </a:p>
          <a:p>
            <a:r>
              <a:rPr lang="en-US" sz="1400" dirty="0"/>
              <a:t>  "properties": {</a:t>
            </a:r>
          </a:p>
          <a:p>
            <a:r>
              <a:rPr lang="en-US" sz="1400" dirty="0"/>
              <a:t>    "</a:t>
            </a:r>
            <a:r>
              <a:rPr lang="en-US" sz="1400" dirty="0" err="1">
                <a:solidFill>
                  <a:schemeClr val="accent1"/>
                </a:solidFill>
              </a:rPr>
              <a:t>linkedResourceId</a:t>
            </a:r>
            <a:r>
              <a:rPr lang="en-US" sz="1400" dirty="0"/>
              <a:t>": "[</a:t>
            </a:r>
            <a:r>
              <a:rPr lang="en-US" sz="1400" dirty="0" err="1"/>
              <a:t>concat</a:t>
            </a:r>
            <a:r>
              <a:rPr lang="en-US" sz="1400" dirty="0"/>
              <a:t>(subscription().id, '/providers/</a:t>
            </a:r>
            <a:r>
              <a:rPr lang="en-US" sz="1400" dirty="0" err="1"/>
              <a:t>Microsoft.Insights</a:t>
            </a:r>
            <a:r>
              <a:rPr lang="en-US" sz="1400" dirty="0"/>
              <a:t>/</a:t>
            </a:r>
            <a:r>
              <a:rPr lang="en-US" sz="1400" dirty="0" err="1"/>
              <a:t>eventTypes</a:t>
            </a:r>
            <a:r>
              <a:rPr lang="en-US" sz="1400" dirty="0"/>
              <a:t>/management')]"</a:t>
            </a:r>
          </a:p>
          <a:p>
            <a:r>
              <a:rPr lang="en-US" sz="1400" dirty="0"/>
              <a:t>  }</a:t>
            </a:r>
          </a:p>
          <a:p>
            <a:r>
              <a:rPr lang="en-US" sz="1400" dirty="0"/>
              <a:t>},</a:t>
            </a:r>
          </a:p>
        </p:txBody>
      </p:sp>
    </p:spTree>
    <p:extLst>
      <p:ext uri="{BB962C8B-B14F-4D97-AF65-F5344CB8AC3E}">
        <p14:creationId xmlns:p14="http://schemas.microsoft.com/office/powerpoint/2010/main" val="260117176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ARM sample – Workspace resource: </a:t>
            </a:r>
            <a:r>
              <a:rPr lang="en-US" dirty="0" err="1">
                <a:solidFill>
                  <a:schemeClr val="accent1"/>
                </a:solidFill>
              </a:rPr>
              <a:t>savedsearches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C3D0C-38BC-465E-A07B-98DE7101B1F3}"/>
              </a:ext>
            </a:extLst>
          </p:cNvPr>
          <p:cNvSpPr/>
          <p:nvPr/>
        </p:nvSpPr>
        <p:spPr>
          <a:xfrm>
            <a:off x="457200" y="800557"/>
            <a:ext cx="86868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"name": "[</a:t>
            </a:r>
            <a:r>
              <a:rPr lang="en-US" sz="1400" dirty="0" err="1">
                <a:latin typeface="Consolas" panose="020B0609020204030204" pitchFamily="49" charset="0"/>
              </a:rPr>
              <a:t>concat</a:t>
            </a:r>
            <a:r>
              <a:rPr lang="en-US" sz="1400" dirty="0">
                <a:latin typeface="Consolas" panose="020B0609020204030204" pitchFamily="49" charset="0"/>
              </a:rPr>
              <a:t>(parameters('</a:t>
            </a:r>
            <a:r>
              <a:rPr lang="en-US" sz="1400" dirty="0" err="1">
                <a:latin typeface="Consolas" panose="020B0609020204030204" pitchFamily="49" charset="0"/>
              </a:rPr>
              <a:t>omsWorkspaceName</a:t>
            </a:r>
            <a:r>
              <a:rPr lang="en-US" sz="1400" dirty="0">
                <a:latin typeface="Consolas" panose="020B0609020204030204" pitchFamily="49" charset="0"/>
              </a:rPr>
              <a:t>'), '/', 'SoftwareUpdateFailed1')]",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"type": "</a:t>
            </a:r>
            <a:r>
              <a:rPr lang="en-US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Microsoft.OperationalInsights</a:t>
            </a:r>
            <a:r>
              <a:rPr lang="en-US" sz="1400" dirty="0">
                <a:solidFill>
                  <a:schemeClr val="accent1"/>
                </a:solidFill>
                <a:latin typeface="Consolas" panose="020B0609020204030204" pitchFamily="49" charset="0"/>
              </a:rPr>
              <a:t>/workspaces/</a:t>
            </a:r>
            <a:r>
              <a:rPr lang="en-US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savedSearches</a:t>
            </a:r>
            <a:r>
              <a:rPr lang="en-US" sz="14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</a:t>
            </a:r>
            <a:r>
              <a:rPr lang="en-US" sz="1400" dirty="0" err="1">
                <a:latin typeface="Consolas" panose="020B0609020204030204" pitchFamily="49" charset="0"/>
              </a:rPr>
              <a:t>apiVersion</a:t>
            </a:r>
            <a:r>
              <a:rPr lang="en-US" sz="1400" dirty="0">
                <a:latin typeface="Consolas" panose="020B0609020204030204" pitchFamily="49" charset="0"/>
              </a:rPr>
              <a:t>": "2015-11-01-preview",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</a:t>
            </a:r>
            <a:r>
              <a:rPr lang="en-US" sz="1400" dirty="0" err="1">
                <a:latin typeface="Consolas" panose="020B0609020204030204" pitchFamily="49" charset="0"/>
              </a:rPr>
              <a:t>dependsOn</a:t>
            </a:r>
            <a:r>
              <a:rPr lang="en-US" sz="1400" dirty="0">
                <a:latin typeface="Consolas" panose="020B0609020204030204" pitchFamily="49" charset="0"/>
              </a:rPr>
              <a:t>": [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"[</a:t>
            </a:r>
            <a:r>
              <a:rPr lang="en-US" sz="1400" dirty="0" err="1">
                <a:latin typeface="Consolas" panose="020B0609020204030204" pitchFamily="49" charset="0"/>
              </a:rPr>
              <a:t>concat</a:t>
            </a:r>
            <a:r>
              <a:rPr lang="en-US" sz="1400" dirty="0">
                <a:latin typeface="Consolas" panose="020B0609020204030204" pitchFamily="49" charset="0"/>
              </a:rPr>
              <a:t>('</a:t>
            </a:r>
            <a:r>
              <a:rPr lang="en-US" sz="1400" dirty="0" err="1">
                <a:latin typeface="Consolas" panose="020B0609020204030204" pitchFamily="49" charset="0"/>
              </a:rPr>
              <a:t>Microsoft.OperationalInsights</a:t>
            </a:r>
            <a:r>
              <a:rPr lang="en-US" sz="1400" dirty="0">
                <a:latin typeface="Consolas" panose="020B0609020204030204" pitchFamily="49" charset="0"/>
              </a:rPr>
              <a:t>/workspaces/’, parameters('</a:t>
            </a:r>
            <a:r>
              <a:rPr lang="en-US" sz="1400" dirty="0" err="1">
                <a:latin typeface="Consolas" panose="020B0609020204030204" pitchFamily="49" charset="0"/>
              </a:rPr>
              <a:t>omsWorkspaceName</a:t>
            </a:r>
            <a:r>
              <a:rPr lang="en-US" sz="1400" dirty="0">
                <a:latin typeface="Consolas" panose="020B0609020204030204" pitchFamily="49" charset="0"/>
              </a:rPr>
              <a:t>'))]"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],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"tags": {},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"properties": 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"</a:t>
            </a:r>
            <a:r>
              <a:rPr lang="en-US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ETag</a:t>
            </a:r>
            <a:r>
              <a:rPr lang="en-US" sz="1400" dirty="0">
                <a:latin typeface="Consolas" panose="020B0609020204030204" pitchFamily="49" charset="0"/>
              </a:rPr>
              <a:t>": "*",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"</a:t>
            </a:r>
            <a:r>
              <a:rPr lang="en-US" sz="1400" dirty="0">
                <a:solidFill>
                  <a:schemeClr val="accent1"/>
                </a:solidFill>
                <a:latin typeface="Consolas" panose="020B0609020204030204" pitchFamily="49" charset="0"/>
              </a:rPr>
              <a:t>query</a:t>
            </a:r>
            <a:r>
              <a:rPr lang="en-US" sz="1400" dirty="0">
                <a:latin typeface="Consolas" panose="020B0609020204030204" pitchFamily="49" charset="0"/>
              </a:rPr>
              <a:t>": "Type=Event </a:t>
            </a:r>
            <a:r>
              <a:rPr lang="en-US" sz="1400" dirty="0" err="1">
                <a:latin typeface="Consolas" panose="020B0609020204030204" pitchFamily="49" charset="0"/>
              </a:rPr>
              <a:t>EventID</a:t>
            </a:r>
            <a:r>
              <a:rPr lang="en-US" sz="1400" dirty="0">
                <a:latin typeface="Consolas" panose="020B0609020204030204" pitchFamily="49" charset="0"/>
              </a:rPr>
              <a:t>=20 Source=\"Microsoft-Windows-</a:t>
            </a:r>
            <a:r>
              <a:rPr lang="en-US" sz="1400" dirty="0" err="1">
                <a:latin typeface="Consolas" panose="020B0609020204030204" pitchFamily="49" charset="0"/>
              </a:rPr>
              <a:t>WindowsUpdateClient</a:t>
            </a:r>
            <a:r>
              <a:rPr lang="en-US" sz="1400" dirty="0">
                <a:latin typeface="Consolas" panose="020B0609020204030204" pitchFamily="49" charset="0"/>
              </a:rPr>
              <a:t>\" </a:t>
            </a:r>
            <a:r>
              <a:rPr lang="en-US" sz="1400" dirty="0" err="1">
                <a:latin typeface="Consolas" panose="020B0609020204030204" pitchFamily="49" charset="0"/>
              </a:rPr>
              <a:t>EventLog</a:t>
            </a:r>
            <a:r>
              <a:rPr lang="en-US" sz="1400" dirty="0">
                <a:latin typeface="Consolas" panose="020B0609020204030204" pitchFamily="49" charset="0"/>
              </a:rPr>
              <a:t>=\"System\" </a:t>
            </a:r>
            <a:r>
              <a:rPr lang="en-US" sz="1400" dirty="0" err="1">
                <a:latin typeface="Consolas" panose="020B0609020204030204" pitchFamily="49" charset="0"/>
              </a:rPr>
              <a:t>TimeGenerated</a:t>
            </a:r>
            <a:r>
              <a:rPr lang="en-US" sz="1400" dirty="0">
                <a:latin typeface="Consolas" panose="020B0609020204030204" pitchFamily="49" charset="0"/>
              </a:rPr>
              <a:t>&gt;NOW-24HOURS | Measure Count() By Computer",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"</a:t>
            </a:r>
            <a:r>
              <a:rPr lang="en-US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displayName</a:t>
            </a:r>
            <a:r>
              <a:rPr lang="en-US" sz="1400" dirty="0">
                <a:latin typeface="Consolas" panose="020B0609020204030204" pitchFamily="49" charset="0"/>
              </a:rPr>
              <a:t>": "A Software Update Installation Failed",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"</a:t>
            </a:r>
            <a:r>
              <a:rPr lang="en-US" sz="1400" dirty="0">
                <a:solidFill>
                  <a:schemeClr val="accent1"/>
                </a:solidFill>
                <a:latin typeface="Consolas" panose="020B0609020204030204" pitchFamily="49" charset="0"/>
              </a:rPr>
              <a:t>category</a:t>
            </a:r>
            <a:r>
              <a:rPr lang="en-US" sz="1400" dirty="0">
                <a:latin typeface="Consolas" panose="020B0609020204030204" pitchFamily="49" charset="0"/>
              </a:rPr>
              <a:t>": "Software Updates"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},</a:t>
            </a:r>
          </a:p>
        </p:txBody>
      </p:sp>
    </p:spTree>
    <p:extLst>
      <p:ext uri="{BB962C8B-B14F-4D97-AF65-F5344CB8AC3E}">
        <p14:creationId xmlns:p14="http://schemas.microsoft.com/office/powerpoint/2010/main" val="403784354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ARM sample – Solution Resource type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C3D0C-38BC-465E-A07B-98DE7101B1F3}"/>
              </a:ext>
            </a:extLst>
          </p:cNvPr>
          <p:cNvSpPr/>
          <p:nvPr/>
        </p:nvSpPr>
        <p:spPr>
          <a:xfrm>
            <a:off x="457200" y="800557"/>
            <a:ext cx="86868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"type": "</a:t>
            </a:r>
            <a:r>
              <a:rPr lang="en-US" sz="1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Microsoft.OperationsManagement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/solutions</a:t>
            </a:r>
            <a:r>
              <a:rPr lang="en-US" sz="12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"name": "[</a:t>
            </a:r>
            <a:r>
              <a:rPr lang="en-US" sz="1200" dirty="0" err="1">
                <a:latin typeface="Consolas" panose="020B0609020204030204" pitchFamily="49" charset="0"/>
              </a:rPr>
              <a:t>concat</a:t>
            </a:r>
            <a:r>
              <a:rPr lang="en-US" sz="1200" dirty="0">
                <a:latin typeface="Consolas" panose="020B0609020204030204" pitchFamily="49" charset="0"/>
              </a:rPr>
              <a:t>(variables('batch1').solutions[</a:t>
            </a:r>
            <a:r>
              <a:rPr lang="en-US" sz="1200" dirty="0" err="1">
                <a:latin typeface="Consolas" panose="020B0609020204030204" pitchFamily="49" charset="0"/>
              </a:rPr>
              <a:t>copyIndex</a:t>
            </a:r>
            <a:r>
              <a:rPr lang="en-US" sz="1200" dirty="0">
                <a:latin typeface="Consolas" panose="020B0609020204030204" pitchFamily="49" charset="0"/>
              </a:rPr>
              <a:t>()].Name)]",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</a:t>
            </a:r>
            <a:r>
              <a:rPr lang="en-US" sz="1200" dirty="0" err="1">
                <a:latin typeface="Consolas" panose="020B0609020204030204" pitchFamily="49" charset="0"/>
              </a:rPr>
              <a:t>apiVersion</a:t>
            </a:r>
            <a:r>
              <a:rPr lang="en-US" sz="1200" dirty="0">
                <a:latin typeface="Consolas" panose="020B0609020204030204" pitchFamily="49" charset="0"/>
              </a:rPr>
              <a:t>": "2015-11-01-preview",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"location": "[parameters('</a:t>
            </a:r>
            <a:r>
              <a:rPr lang="en-US" sz="1200" dirty="0" err="1">
                <a:latin typeface="Consolas" panose="020B0609020204030204" pitchFamily="49" charset="0"/>
              </a:rPr>
              <a:t>omsWorkspaceRegion</a:t>
            </a:r>
            <a:r>
              <a:rPr lang="en-US" sz="1200" dirty="0">
                <a:latin typeface="Consolas" panose="020B0609020204030204" pitchFamily="49" charset="0"/>
              </a:rPr>
              <a:t>')]",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</a:t>
            </a:r>
            <a:r>
              <a:rPr lang="en-US" sz="1200" dirty="0" err="1">
                <a:latin typeface="Consolas" panose="020B0609020204030204" pitchFamily="49" charset="0"/>
              </a:rPr>
              <a:t>dependsOn</a:t>
            </a:r>
            <a:r>
              <a:rPr lang="en-US" sz="1200" dirty="0">
                <a:latin typeface="Consolas" panose="020B0609020204030204" pitchFamily="49" charset="0"/>
              </a:rPr>
              <a:t>": [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"[</a:t>
            </a:r>
            <a:r>
              <a:rPr lang="en-US" sz="1200" dirty="0" err="1">
                <a:latin typeface="Consolas" panose="020B0609020204030204" pitchFamily="49" charset="0"/>
              </a:rPr>
              <a:t>concat</a:t>
            </a:r>
            <a:r>
              <a:rPr lang="en-US" sz="1200" dirty="0">
                <a:latin typeface="Consolas" panose="020B0609020204030204" pitchFamily="49" charset="0"/>
              </a:rPr>
              <a:t>('</a:t>
            </a:r>
            <a:r>
              <a:rPr lang="en-US" sz="1200" dirty="0" err="1">
                <a:latin typeface="Consolas" panose="020B0609020204030204" pitchFamily="49" charset="0"/>
              </a:rPr>
              <a:t>Microsoft.OperationalInsights</a:t>
            </a:r>
            <a:r>
              <a:rPr lang="en-US" sz="1200" dirty="0">
                <a:latin typeface="Consolas" panose="020B0609020204030204" pitchFamily="49" charset="0"/>
              </a:rPr>
              <a:t>/workspaces/', parameters('</a:t>
            </a:r>
            <a:r>
              <a:rPr lang="en-US" sz="1200" dirty="0" err="1">
                <a:latin typeface="Consolas" panose="020B0609020204030204" pitchFamily="49" charset="0"/>
              </a:rPr>
              <a:t>omsWorkspaceName</a:t>
            </a:r>
            <a:r>
              <a:rPr lang="en-US" sz="1200" dirty="0">
                <a:latin typeface="Consolas" panose="020B0609020204030204" pitchFamily="49" charset="0"/>
              </a:rPr>
              <a:t>'))]"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],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copy</a:t>
            </a:r>
            <a:r>
              <a:rPr lang="en-US" sz="1200" dirty="0">
                <a:latin typeface="Consolas" panose="020B0609020204030204" pitchFamily="49" charset="0"/>
              </a:rPr>
              <a:t>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"name": "</a:t>
            </a:r>
            <a:r>
              <a:rPr lang="en-US" sz="1200" dirty="0" err="1">
                <a:latin typeface="Consolas" panose="020B0609020204030204" pitchFamily="49" charset="0"/>
              </a:rPr>
              <a:t>solutionCopy</a:t>
            </a:r>
            <a:r>
              <a:rPr lang="en-US" sz="12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count</a:t>
            </a:r>
            <a:r>
              <a:rPr lang="en-US" sz="1200" dirty="0">
                <a:latin typeface="Consolas" panose="020B0609020204030204" pitchFamily="49" charset="0"/>
              </a:rPr>
              <a:t>": "[length(variables('batch1').solutions)]"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},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"properties":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</a:t>
            </a:r>
            <a:r>
              <a:rPr lang="en-US" sz="1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workspaceResourceId</a:t>
            </a:r>
            <a:r>
              <a:rPr lang="en-US" sz="1200" dirty="0">
                <a:latin typeface="Consolas" panose="020B0609020204030204" pitchFamily="49" charset="0"/>
              </a:rPr>
              <a:t>": "[</a:t>
            </a:r>
            <a:r>
              <a:rPr lang="en-US" sz="1200" dirty="0" err="1">
                <a:latin typeface="Consolas" panose="020B0609020204030204" pitchFamily="49" charset="0"/>
              </a:rPr>
              <a:t>resourceId</a:t>
            </a:r>
            <a:r>
              <a:rPr lang="en-US" sz="1200" dirty="0">
                <a:latin typeface="Consolas" panose="020B0609020204030204" pitchFamily="49" charset="0"/>
              </a:rPr>
              <a:t>('</a:t>
            </a:r>
            <a:r>
              <a:rPr lang="en-US" sz="1200" dirty="0" err="1">
                <a:latin typeface="Consolas" panose="020B0609020204030204" pitchFamily="49" charset="0"/>
              </a:rPr>
              <a:t>Microsoft.OperationalInsights</a:t>
            </a:r>
            <a:r>
              <a:rPr lang="en-US" sz="1200" dirty="0">
                <a:latin typeface="Consolas" panose="020B0609020204030204" pitchFamily="49" charset="0"/>
              </a:rPr>
              <a:t>/workspaces', parameters('</a:t>
            </a:r>
            <a:r>
              <a:rPr lang="en-US" sz="1200" dirty="0" err="1">
                <a:latin typeface="Consolas" panose="020B0609020204030204" pitchFamily="49" charset="0"/>
              </a:rPr>
              <a:t>omsWorkspaceName</a:t>
            </a:r>
            <a:r>
              <a:rPr lang="en-US" sz="1200" dirty="0">
                <a:latin typeface="Consolas" panose="020B0609020204030204" pitchFamily="49" charset="0"/>
              </a:rPr>
              <a:t>'))]"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},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"plan":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name</a:t>
            </a:r>
            <a:r>
              <a:rPr lang="en-US" sz="1200" dirty="0">
                <a:latin typeface="Consolas" panose="020B0609020204030204" pitchFamily="49" charset="0"/>
              </a:rPr>
              <a:t>": "[variables('batch1').solutions[</a:t>
            </a:r>
            <a:r>
              <a:rPr lang="en-US" sz="1200" dirty="0" err="1">
                <a:latin typeface="Consolas" panose="020B0609020204030204" pitchFamily="49" charset="0"/>
              </a:rPr>
              <a:t>copyIndex</a:t>
            </a:r>
            <a:r>
              <a:rPr lang="en-US" sz="1200" dirty="0">
                <a:latin typeface="Consolas" panose="020B0609020204030204" pitchFamily="49" charset="0"/>
              </a:rPr>
              <a:t>()].name]",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product</a:t>
            </a:r>
            <a:r>
              <a:rPr lang="en-US" sz="1200" dirty="0">
                <a:latin typeface="Consolas" panose="020B0609020204030204" pitchFamily="49" charset="0"/>
              </a:rPr>
              <a:t>": "[</a:t>
            </a:r>
            <a:r>
              <a:rPr lang="en-US" sz="1200" dirty="0" err="1">
                <a:latin typeface="Consolas" panose="020B0609020204030204" pitchFamily="49" charset="0"/>
              </a:rPr>
              <a:t>concat</a:t>
            </a:r>
            <a:r>
              <a:rPr lang="en-US" sz="1200" dirty="0">
                <a:latin typeface="Consolas" panose="020B0609020204030204" pitchFamily="49" charset="0"/>
              </a:rPr>
              <a:t>('</a:t>
            </a:r>
            <a:r>
              <a:rPr lang="en-US" sz="1200" dirty="0" err="1">
                <a:latin typeface="Consolas" panose="020B0609020204030204" pitchFamily="49" charset="0"/>
              </a:rPr>
              <a:t>OMSGallery</a:t>
            </a:r>
            <a:r>
              <a:rPr lang="en-US" sz="1200" dirty="0">
                <a:latin typeface="Consolas" panose="020B0609020204030204" pitchFamily="49" charset="0"/>
              </a:rPr>
              <a:t>/', variables('batch1').solutions[</a:t>
            </a:r>
            <a:r>
              <a:rPr lang="en-US" sz="1200" dirty="0" err="1">
                <a:latin typeface="Consolas" panose="020B0609020204030204" pitchFamily="49" charset="0"/>
              </a:rPr>
              <a:t>copyIndex</a:t>
            </a:r>
            <a:r>
              <a:rPr lang="en-US" sz="1200" dirty="0">
                <a:latin typeface="Consolas" panose="020B0609020204030204" pitchFamily="49" charset="0"/>
              </a:rPr>
              <a:t>()].</a:t>
            </a:r>
            <a:r>
              <a:rPr lang="en-US" sz="1200" dirty="0" err="1">
                <a:latin typeface="Consolas" panose="020B0609020204030204" pitchFamily="49" charset="0"/>
              </a:rPr>
              <a:t>marketplaceName</a:t>
            </a:r>
            <a:r>
              <a:rPr lang="en-US" sz="1200" dirty="0">
                <a:latin typeface="Consolas" panose="020B0609020204030204" pitchFamily="49" charset="0"/>
              </a:rPr>
              <a:t>)]",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</a:t>
            </a:r>
            <a:r>
              <a:rPr lang="en-US" sz="1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promotionCode</a:t>
            </a:r>
            <a:r>
              <a:rPr lang="en-US" sz="1200" dirty="0">
                <a:latin typeface="Consolas" panose="020B0609020204030204" pitchFamily="49" charset="0"/>
              </a:rPr>
              <a:t>": "",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publisher</a:t>
            </a:r>
            <a:r>
              <a:rPr lang="en-US" sz="1200" dirty="0">
                <a:latin typeface="Consolas" panose="020B0609020204030204" pitchFamily="49" charset="0"/>
              </a:rPr>
              <a:t>": "Microsoft"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654904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Operations Management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Recovery Services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</a:t>
            </a:r>
          </a:p>
          <a:p>
            <a:pPr lvl="1"/>
            <a:r>
              <a:rPr lang="en-US" dirty="0"/>
              <a:t>Backup guest VM</a:t>
            </a:r>
          </a:p>
          <a:p>
            <a:pPr lvl="1"/>
            <a:r>
              <a:rPr lang="en-US" dirty="0"/>
              <a:t>File level recovery (preview)</a:t>
            </a:r>
          </a:p>
          <a:p>
            <a:r>
              <a:rPr lang="en-US" dirty="0"/>
              <a:t>Design influences:</a:t>
            </a:r>
          </a:p>
          <a:p>
            <a:pPr lvl="1"/>
            <a:r>
              <a:rPr lang="en-US" dirty="0"/>
              <a:t>Leverages multiple OMS services</a:t>
            </a:r>
          </a:p>
          <a:p>
            <a:pPr lvl="1"/>
            <a:r>
              <a:rPr lang="en-US" dirty="0"/>
              <a:t>Consider common account across application resource groups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ED9F8D9-2A5A-4FB2-A25D-8546E1B5C25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133" y="1028700"/>
            <a:ext cx="3366858" cy="3200400"/>
          </a:xfrm>
        </p:spPr>
      </p:pic>
    </p:spTree>
    <p:extLst>
      <p:ext uri="{BB962C8B-B14F-4D97-AF65-F5344CB8AC3E}">
        <p14:creationId xmlns:p14="http://schemas.microsoft.com/office/powerpoint/2010/main" val="271191274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ARM sample – Recovery Services Resource type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C3D0C-38BC-465E-A07B-98DE7101B1F3}"/>
              </a:ext>
            </a:extLst>
          </p:cNvPr>
          <p:cNvSpPr/>
          <p:nvPr/>
        </p:nvSpPr>
        <p:spPr>
          <a:xfrm>
            <a:off x="457200" y="800100"/>
            <a:ext cx="7848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"type": "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Microsoft.RecoveryServices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/vaults</a:t>
            </a:r>
            <a:r>
              <a:rPr lang="en-US" dirty="0">
                <a:latin typeface="Consolas" panose="020B0609020204030204" pitchFamily="49" charset="0"/>
              </a:rPr>
              <a:t>",</a:t>
            </a:r>
          </a:p>
          <a:p>
            <a:r>
              <a:rPr lang="en-US" dirty="0">
                <a:latin typeface="Consolas" panose="020B0609020204030204" pitchFamily="49" charset="0"/>
              </a:rPr>
              <a:t>  "name": "[parameters('</a:t>
            </a:r>
            <a:r>
              <a:rPr lang="en-US" dirty="0" err="1">
                <a:latin typeface="Consolas" panose="020B0609020204030204" pitchFamily="49" charset="0"/>
              </a:rPr>
              <a:t>omsRecoveryVaultName</a:t>
            </a:r>
            <a:r>
              <a:rPr lang="en-US" dirty="0">
                <a:latin typeface="Consolas" panose="020B0609020204030204" pitchFamily="49" charset="0"/>
              </a:rPr>
              <a:t>')]",</a:t>
            </a:r>
          </a:p>
          <a:p>
            <a:r>
              <a:rPr lang="en-US" dirty="0">
                <a:latin typeface="Consolas" panose="020B0609020204030204" pitchFamily="49" charset="0"/>
              </a:rPr>
              <a:t>  "</a:t>
            </a:r>
            <a:r>
              <a:rPr lang="en-US" dirty="0" err="1">
                <a:latin typeface="Consolas" panose="020B0609020204030204" pitchFamily="49" charset="0"/>
              </a:rPr>
              <a:t>apiVersion</a:t>
            </a:r>
            <a:r>
              <a:rPr lang="en-US" dirty="0">
                <a:latin typeface="Consolas" panose="020B0609020204030204" pitchFamily="49" charset="0"/>
              </a:rPr>
              <a:t>": "2016-06-01",</a:t>
            </a:r>
          </a:p>
          <a:p>
            <a:r>
              <a:rPr lang="en-US" dirty="0">
                <a:latin typeface="Consolas" panose="020B0609020204030204" pitchFamily="49" charset="0"/>
              </a:rPr>
              <a:t>  "location": "[parameters('</a:t>
            </a:r>
            <a:r>
              <a:rPr lang="en-US" dirty="0" err="1">
                <a:latin typeface="Consolas" panose="020B0609020204030204" pitchFamily="49" charset="0"/>
              </a:rPr>
              <a:t>omsRecoveryVaultRegion</a:t>
            </a:r>
            <a:r>
              <a:rPr lang="en-US" dirty="0">
                <a:latin typeface="Consolas" panose="020B0609020204030204" pitchFamily="49" charset="0"/>
              </a:rPr>
              <a:t>')]",</a:t>
            </a:r>
          </a:p>
          <a:p>
            <a:r>
              <a:rPr lang="en-US" dirty="0">
                <a:latin typeface="Consolas" panose="020B0609020204030204" pitchFamily="49" charset="0"/>
              </a:rPr>
              <a:t>  "comments": "ASR Recovery Vault for OMS",</a:t>
            </a:r>
          </a:p>
          <a:p>
            <a:r>
              <a:rPr lang="en-US" dirty="0">
                <a:latin typeface="Consolas" panose="020B0609020204030204" pitchFamily="49" charset="0"/>
              </a:rPr>
              <a:t>  "</a:t>
            </a:r>
            <a:r>
              <a:rPr lang="en-US" dirty="0" err="1">
                <a:latin typeface="Consolas" panose="020B0609020204030204" pitchFamily="49" charset="0"/>
              </a:rPr>
              <a:t>sku</a:t>
            </a:r>
            <a:r>
              <a:rPr lang="en-US" dirty="0">
                <a:latin typeface="Consolas" panose="020B0609020204030204" pitchFamily="49" charset="0"/>
              </a:rPr>
              <a:t>": {</a:t>
            </a:r>
          </a:p>
          <a:p>
            <a:r>
              <a:rPr lang="en-US" dirty="0">
                <a:latin typeface="Consolas" panose="020B0609020204030204" pitchFamily="49" charset="0"/>
              </a:rPr>
              <a:t>    "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latin typeface="Consolas" panose="020B0609020204030204" pitchFamily="49" charset="0"/>
              </a:rPr>
              <a:t>": "RS0",</a:t>
            </a:r>
          </a:p>
          <a:p>
            <a:r>
              <a:rPr lang="en-US" dirty="0">
                <a:latin typeface="Consolas" panose="020B0609020204030204" pitchFamily="49" charset="0"/>
              </a:rPr>
              <a:t>    "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tier</a:t>
            </a:r>
            <a:r>
              <a:rPr lang="en-US" dirty="0">
                <a:latin typeface="Consolas" panose="020B0609020204030204" pitchFamily="49" charset="0"/>
              </a:rPr>
              <a:t>": "Standard"</a:t>
            </a:r>
          </a:p>
          <a:p>
            <a:r>
              <a:rPr lang="en-US" dirty="0">
                <a:latin typeface="Consolas" panose="020B0609020204030204" pitchFamily="49" charset="0"/>
              </a:rPr>
              <a:t>},</a:t>
            </a:r>
          </a:p>
        </p:txBody>
      </p:sp>
    </p:spTree>
    <p:extLst>
      <p:ext uri="{BB962C8B-B14F-4D97-AF65-F5344CB8AC3E}">
        <p14:creationId xmlns:p14="http://schemas.microsoft.com/office/powerpoint/2010/main" val="115447867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ARM sample – Recovery Services resource: vault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C3D0C-38BC-465E-A07B-98DE7101B1F3}"/>
              </a:ext>
            </a:extLst>
          </p:cNvPr>
          <p:cNvSpPr/>
          <p:nvPr/>
        </p:nvSpPr>
        <p:spPr>
          <a:xfrm>
            <a:off x="457200" y="800100"/>
            <a:ext cx="7848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</a:rPr>
              <a:t>      "type": "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Microsoft.Backup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BackupVault</a:t>
            </a:r>
            <a:r>
              <a:rPr lang="en-US" dirty="0">
                <a:latin typeface="Consolas" panose="020B0609020204030204" pitchFamily="49" charset="0"/>
              </a:rPr>
              <a:t>",</a:t>
            </a:r>
          </a:p>
          <a:p>
            <a:r>
              <a:rPr lang="en-US" dirty="0">
                <a:latin typeface="Consolas" panose="020B0609020204030204" pitchFamily="49" charset="0"/>
              </a:rPr>
              <a:t>      "</a:t>
            </a:r>
            <a:r>
              <a:rPr lang="en-US" dirty="0" err="1">
                <a:latin typeface="Consolas" panose="020B0609020204030204" pitchFamily="49" charset="0"/>
              </a:rPr>
              <a:t>apiVersion</a:t>
            </a:r>
            <a:r>
              <a:rPr lang="en-US" dirty="0">
                <a:latin typeface="Consolas" panose="020B0609020204030204" pitchFamily="49" charset="0"/>
              </a:rPr>
              <a:t>": "2015-03-15",</a:t>
            </a:r>
          </a:p>
          <a:p>
            <a:r>
              <a:rPr lang="en-US" dirty="0">
                <a:latin typeface="Consolas" panose="020B0609020204030204" pitchFamily="49" charset="0"/>
              </a:rPr>
              <a:t>      "name": "[parameters('</a:t>
            </a:r>
            <a:r>
              <a:rPr lang="en-US" dirty="0" err="1">
                <a:latin typeface="Consolas" panose="020B0609020204030204" pitchFamily="49" charset="0"/>
              </a:rPr>
              <a:t>vaultName</a:t>
            </a:r>
            <a:r>
              <a:rPr lang="en-US" dirty="0">
                <a:latin typeface="Consolas" panose="020B0609020204030204" pitchFamily="49" charset="0"/>
              </a:rPr>
              <a:t>')]",</a:t>
            </a:r>
          </a:p>
          <a:p>
            <a:r>
              <a:rPr lang="en-US" dirty="0">
                <a:latin typeface="Consolas" panose="020B0609020204030204" pitchFamily="49" charset="0"/>
              </a:rPr>
              <a:t>      "location": "[</a:t>
            </a:r>
            <a:r>
              <a:rPr lang="en-US" dirty="0" err="1">
                <a:latin typeface="Consolas" panose="020B0609020204030204" pitchFamily="49" charset="0"/>
              </a:rPr>
              <a:t>resourceGroup</a:t>
            </a:r>
            <a:r>
              <a:rPr lang="en-US" dirty="0">
                <a:latin typeface="Consolas" panose="020B0609020204030204" pitchFamily="49" charset="0"/>
              </a:rPr>
              <a:t>().location]",</a:t>
            </a:r>
          </a:p>
          <a:p>
            <a:r>
              <a:rPr lang="en-US" dirty="0">
                <a:latin typeface="Consolas" panose="020B0609020204030204" pitchFamily="49" charset="0"/>
              </a:rPr>
              <a:t>      "properties":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"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sku</a:t>
            </a:r>
            <a:r>
              <a:rPr lang="en-US" dirty="0">
                <a:latin typeface="Consolas" panose="020B0609020204030204" pitchFamily="49" charset="0"/>
              </a:rPr>
              <a:t>":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"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latin typeface="Consolas" panose="020B0609020204030204" pitchFamily="49" charset="0"/>
              </a:rPr>
              <a:t>": "[parameters('</a:t>
            </a:r>
            <a:r>
              <a:rPr lang="en-US" dirty="0" err="1">
                <a:latin typeface="Consolas" panose="020B0609020204030204" pitchFamily="49" charset="0"/>
              </a:rPr>
              <a:t>skuName</a:t>
            </a:r>
            <a:r>
              <a:rPr lang="en-US" dirty="0">
                <a:latin typeface="Consolas" panose="020B0609020204030204" pitchFamily="49" charset="0"/>
              </a:rPr>
              <a:t>')]"</a:t>
            </a:r>
          </a:p>
          <a:p>
            <a:r>
              <a:rPr lang="en-US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dirty="0">
                <a:latin typeface="Consolas" panose="020B0609020204030204" pitchFamily="49" charset="0"/>
              </a:rPr>
              <a:t>      }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63908365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Operations Management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Update (OMS Workspace)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</a:t>
            </a:r>
          </a:p>
          <a:p>
            <a:pPr lvl="1"/>
            <a:r>
              <a:rPr lang="en-US" dirty="0"/>
              <a:t>Keep guest OS up to date with security and other updates</a:t>
            </a:r>
          </a:p>
          <a:p>
            <a:pPr lvl="1"/>
            <a:r>
              <a:rPr lang="en-US" dirty="0"/>
              <a:t>Cross platform</a:t>
            </a:r>
          </a:p>
          <a:p>
            <a:r>
              <a:rPr lang="en-US" dirty="0"/>
              <a:t>Design influences:</a:t>
            </a:r>
          </a:p>
          <a:p>
            <a:pPr lvl="1"/>
            <a:r>
              <a:rPr lang="en-US" dirty="0"/>
              <a:t>Leverages multiple OMS services</a:t>
            </a:r>
          </a:p>
          <a:p>
            <a:pPr lvl="1"/>
            <a:r>
              <a:rPr lang="en-US" dirty="0"/>
              <a:t>Consider common account across application resource groups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E066C81-BBD4-43C9-AF95-1D4118F9408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06" y="1028700"/>
            <a:ext cx="3862112" cy="3200400"/>
          </a:xfrm>
        </p:spPr>
      </p:pic>
    </p:spTree>
    <p:extLst>
      <p:ext uri="{BB962C8B-B14F-4D97-AF65-F5344CB8AC3E}">
        <p14:creationId xmlns:p14="http://schemas.microsoft.com/office/powerpoint/2010/main" val="2575839826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ARM sample – OMS Workspace solutions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C3D0C-38BC-465E-A07B-98DE7101B1F3}"/>
              </a:ext>
            </a:extLst>
          </p:cNvPr>
          <p:cNvSpPr/>
          <p:nvPr/>
        </p:nvSpPr>
        <p:spPr>
          <a:xfrm>
            <a:off x="457200" y="1962150"/>
            <a:ext cx="8686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"variables":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"batch1":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"solutions": [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    "</a:t>
            </a:r>
            <a:r>
              <a:rPr lang="en-US" sz="1200" dirty="0">
                <a:solidFill>
                  <a:schemeClr val="accent3"/>
                </a:solidFill>
                <a:latin typeface="Consolas" panose="020B0609020204030204" pitchFamily="49" charset="0"/>
              </a:rPr>
              <a:t>name</a:t>
            </a:r>
            <a:r>
              <a:rPr lang="en-US" sz="1200" dirty="0">
                <a:latin typeface="Consolas" panose="020B0609020204030204" pitchFamily="49" charset="0"/>
              </a:rPr>
              <a:t>": "[</a:t>
            </a:r>
            <a:r>
              <a:rPr lang="en-US" sz="1200" dirty="0" err="1">
                <a:latin typeface="Consolas" panose="020B0609020204030204" pitchFamily="49" charset="0"/>
              </a:rPr>
              <a:t>concat</a:t>
            </a:r>
            <a:r>
              <a:rPr lang="en-US" sz="1200" dirty="0">
                <a:latin typeface="Consolas" panose="020B0609020204030204" pitchFamily="49" charset="0"/>
              </a:rPr>
              <a:t>('Updates', '(', parameters('</a:t>
            </a:r>
            <a:r>
              <a:rPr lang="en-US" sz="1200" dirty="0" err="1">
                <a:latin typeface="Consolas" panose="020B0609020204030204" pitchFamily="49" charset="0"/>
              </a:rPr>
              <a:t>omsWorkspaceName</a:t>
            </a:r>
            <a:r>
              <a:rPr lang="en-US" sz="1200" dirty="0">
                <a:latin typeface="Consolas" panose="020B0609020204030204" pitchFamily="49" charset="0"/>
              </a:rPr>
              <a:t>'), ')')]",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    "</a:t>
            </a:r>
            <a:r>
              <a:rPr lang="en-US" sz="1200" dirty="0" err="1">
                <a:solidFill>
                  <a:schemeClr val="accent3"/>
                </a:solidFill>
                <a:latin typeface="Consolas" panose="020B0609020204030204" pitchFamily="49" charset="0"/>
              </a:rPr>
              <a:t>marketplaceName</a:t>
            </a:r>
            <a:r>
              <a:rPr lang="en-US" sz="1200" dirty="0">
                <a:latin typeface="Consolas" panose="020B0609020204030204" pitchFamily="49" charset="0"/>
              </a:rPr>
              <a:t>": "Updates"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},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AF50-27C1-4EEE-8FE5-D4910B0CDA8E}"/>
              </a:ext>
            </a:extLst>
          </p:cNvPr>
          <p:cNvSpPr txBox="1"/>
          <p:nvPr/>
        </p:nvSpPr>
        <p:spPr bwMode="auto">
          <a:xfrm>
            <a:off x="457200" y="1116014"/>
            <a:ext cx="518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2060"/>
                </a:solidFill>
                <a:latin typeface="Tekton Pro" pitchFamily="34" charset="0"/>
              </a:rPr>
              <a:t>Delivered as component of OMS Workspace</a:t>
            </a:r>
          </a:p>
        </p:txBody>
      </p:sp>
    </p:spTree>
    <p:extLst>
      <p:ext uri="{BB962C8B-B14F-4D97-AF65-F5344CB8AC3E}">
        <p14:creationId xmlns:p14="http://schemas.microsoft.com/office/powerpoint/2010/main" val="19717976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Embedded templates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BBA029-D3A5-41CB-9F7A-DE55A91B5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Concept:</a:t>
            </a:r>
          </a:p>
          <a:p>
            <a:pPr lvl="1"/>
            <a:r>
              <a:rPr lang="en-US" dirty="0"/>
              <a:t>ARM templates can be nested for re-use</a:t>
            </a:r>
          </a:p>
          <a:p>
            <a:pPr lvl="1"/>
            <a:r>
              <a:rPr lang="en-US" dirty="0"/>
              <a:t>Operations teams publish best practices and maintain the Release Pipeline</a:t>
            </a:r>
          </a:p>
          <a:p>
            <a:pPr lvl="1"/>
            <a:r>
              <a:rPr lang="en-US" dirty="0"/>
              <a:t>Simplify for application owners by publishing, or automatically including embedded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20672-1BE8-4C73-8603-AEB3693DBFF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900" b="0" dirty="0"/>
              <a:t>{</a:t>
            </a:r>
          </a:p>
          <a:p>
            <a:r>
              <a:rPr lang="en-US" sz="900" b="0" dirty="0"/>
              <a:t>  "type": "</a:t>
            </a:r>
            <a:r>
              <a:rPr lang="en-US" sz="900" b="0" dirty="0" err="1">
                <a:solidFill>
                  <a:schemeClr val="accent3"/>
                </a:solidFill>
              </a:rPr>
              <a:t>Microsoft.Resources</a:t>
            </a:r>
            <a:r>
              <a:rPr lang="en-US" sz="900" b="0" dirty="0">
                <a:solidFill>
                  <a:schemeClr val="accent3"/>
                </a:solidFill>
              </a:rPr>
              <a:t>/deployments</a:t>
            </a:r>
            <a:r>
              <a:rPr lang="en-US" sz="900" b="0" dirty="0"/>
              <a:t>",</a:t>
            </a:r>
          </a:p>
          <a:p>
            <a:r>
              <a:rPr lang="en-US" sz="900" b="0" dirty="0"/>
              <a:t>  "</a:t>
            </a:r>
            <a:r>
              <a:rPr lang="en-US" sz="900" b="0" dirty="0" err="1"/>
              <a:t>apiVersion</a:t>
            </a:r>
            <a:r>
              <a:rPr lang="en-US" sz="900" b="0" dirty="0"/>
              <a:t>": "2016-02-01",</a:t>
            </a:r>
          </a:p>
          <a:p>
            <a:r>
              <a:rPr lang="en-US" sz="900" b="0" dirty="0"/>
              <a:t>  "name": "</a:t>
            </a:r>
            <a:r>
              <a:rPr lang="en-US" sz="900" b="0" dirty="0" err="1"/>
              <a:t>omsWorkspace</a:t>
            </a:r>
            <a:r>
              <a:rPr lang="en-US" sz="900" b="0" dirty="0"/>
              <a:t>",</a:t>
            </a:r>
          </a:p>
          <a:p>
            <a:r>
              <a:rPr lang="en-US" sz="900" b="0" dirty="0"/>
              <a:t>  “</a:t>
            </a:r>
            <a:r>
              <a:rPr lang="en-US" sz="900" b="0" dirty="0" err="1"/>
              <a:t>dependsOn</a:t>
            </a:r>
            <a:r>
              <a:rPr lang="en-US" sz="900" b="0" dirty="0"/>
              <a:t>": [</a:t>
            </a:r>
          </a:p>
          <a:p>
            <a:r>
              <a:rPr lang="en-US" sz="900" b="0" dirty="0"/>
              <a:t>    "[</a:t>
            </a:r>
            <a:r>
              <a:rPr lang="en-US" sz="900" b="0" dirty="0" err="1"/>
              <a:t>concat</a:t>
            </a:r>
            <a:r>
              <a:rPr lang="en-US" sz="900" b="0" dirty="0"/>
              <a:t>('</a:t>
            </a:r>
            <a:r>
              <a:rPr lang="en-US" sz="900" b="0" dirty="0" err="1"/>
              <a:t>Microsoft.Resources</a:t>
            </a:r>
            <a:r>
              <a:rPr lang="en-US" sz="900" b="0" dirty="0"/>
              <a:t>/deployments/', '</a:t>
            </a:r>
            <a:r>
              <a:rPr lang="en-US" sz="900" b="0" dirty="0" err="1"/>
              <a:t>omsRecoveryServices</a:t>
            </a:r>
            <a:r>
              <a:rPr lang="en-US" sz="900" b="0" dirty="0"/>
              <a:t>')]"</a:t>
            </a:r>
          </a:p>
          <a:p>
            <a:r>
              <a:rPr lang="en-US" sz="900" b="0" dirty="0"/>
              <a:t>  ],</a:t>
            </a:r>
          </a:p>
          <a:p>
            <a:r>
              <a:rPr lang="en-US" sz="900" b="0" dirty="0"/>
              <a:t>  "properties": {</a:t>
            </a:r>
          </a:p>
          <a:p>
            <a:r>
              <a:rPr lang="en-US" sz="900" b="0" dirty="0"/>
              <a:t>    "mode": "Incremental",</a:t>
            </a:r>
          </a:p>
          <a:p>
            <a:r>
              <a:rPr lang="en-US" sz="900" b="0" dirty="0"/>
              <a:t>    "</a:t>
            </a:r>
            <a:r>
              <a:rPr lang="en-US" sz="900" b="0" dirty="0" err="1">
                <a:solidFill>
                  <a:schemeClr val="accent3"/>
                </a:solidFill>
              </a:rPr>
              <a:t>templateLink</a:t>
            </a:r>
            <a:r>
              <a:rPr lang="en-US" sz="900" b="0" dirty="0"/>
              <a:t>": {</a:t>
            </a:r>
          </a:p>
          <a:p>
            <a:r>
              <a:rPr lang="en-US" sz="900" b="0" dirty="0"/>
              <a:t>      "</a:t>
            </a:r>
            <a:r>
              <a:rPr lang="en-US" sz="900" b="0" dirty="0" err="1">
                <a:solidFill>
                  <a:schemeClr val="accent3"/>
                </a:solidFill>
              </a:rPr>
              <a:t>uri</a:t>
            </a:r>
            <a:r>
              <a:rPr lang="en-US" sz="900" b="0" dirty="0"/>
              <a:t>": "[variables('</a:t>
            </a:r>
            <a:r>
              <a:rPr lang="en-US" sz="900" b="0" dirty="0" err="1"/>
              <a:t>nestedTemplates</a:t>
            </a:r>
            <a:r>
              <a:rPr lang="en-US" sz="900" b="0" dirty="0"/>
              <a:t>').</a:t>
            </a:r>
            <a:r>
              <a:rPr lang="en-US" sz="900" b="0" dirty="0" err="1"/>
              <a:t>omsWorkspace</a:t>
            </a:r>
            <a:r>
              <a:rPr lang="en-US" sz="900" b="0" dirty="0"/>
              <a:t>]",</a:t>
            </a:r>
          </a:p>
          <a:p>
            <a:r>
              <a:rPr lang="en-US" sz="900" b="0" dirty="0"/>
              <a:t>      "</a:t>
            </a:r>
            <a:r>
              <a:rPr lang="en-US" sz="900" b="0" dirty="0" err="1"/>
              <a:t>contentVersion</a:t>
            </a:r>
            <a:r>
              <a:rPr lang="en-US" sz="900" b="0" dirty="0"/>
              <a:t>": "1.0.0.0"</a:t>
            </a:r>
          </a:p>
          <a:p>
            <a:r>
              <a:rPr lang="en-US" sz="900" b="0" dirty="0"/>
              <a:t>    },</a:t>
            </a:r>
          </a:p>
          <a:p>
            <a:r>
              <a:rPr lang="en-US" sz="900" b="0" dirty="0"/>
              <a:t>  "parameters": {</a:t>
            </a:r>
          </a:p>
          <a:p>
            <a:r>
              <a:rPr lang="en-US" sz="900" b="0" dirty="0"/>
              <a:t>    "</a:t>
            </a:r>
            <a:r>
              <a:rPr lang="en-US" sz="900" b="0" dirty="0" err="1"/>
              <a:t>omsWorkspaceName</a:t>
            </a:r>
            <a:r>
              <a:rPr lang="en-US" sz="900" b="0" dirty="0"/>
              <a:t>": {</a:t>
            </a:r>
          </a:p>
          <a:p>
            <a:r>
              <a:rPr lang="en-US" sz="900" b="0" dirty="0"/>
              <a:t>    "value": "[parameters('</a:t>
            </a:r>
            <a:r>
              <a:rPr lang="en-US" sz="900" b="0" dirty="0" err="1"/>
              <a:t>omsWorkspaceName</a:t>
            </a:r>
            <a:r>
              <a:rPr lang="en-US" sz="900" b="0" dirty="0"/>
              <a:t>')]"</a:t>
            </a:r>
          </a:p>
          <a:p>
            <a:r>
              <a:rPr lang="en-US" sz="900" b="0" dirty="0"/>
              <a:t>  },</a:t>
            </a:r>
          </a:p>
          <a:p>
            <a:r>
              <a:rPr lang="en-US" sz="900" b="0" dirty="0"/>
              <a:t>  "</a:t>
            </a:r>
            <a:r>
              <a:rPr lang="en-US" sz="900" b="0" dirty="0" err="1"/>
              <a:t>omsWorkspaceRegion</a:t>
            </a:r>
            <a:r>
              <a:rPr lang="en-US" sz="900" b="0" dirty="0"/>
              <a:t>": {</a:t>
            </a:r>
          </a:p>
          <a:p>
            <a:r>
              <a:rPr lang="en-US" sz="900" b="0" dirty="0"/>
              <a:t>      "value": "[parameters('</a:t>
            </a:r>
            <a:r>
              <a:rPr lang="en-US" sz="900" b="0" dirty="0" err="1"/>
              <a:t>omsWorkspaceRegion</a:t>
            </a:r>
            <a:r>
              <a:rPr lang="en-US" sz="900" b="0" dirty="0"/>
              <a:t>')]"</a:t>
            </a:r>
          </a:p>
          <a:p>
            <a:r>
              <a:rPr lang="en-US" sz="900" b="0" dirty="0"/>
              <a:t>   }</a:t>
            </a:r>
          </a:p>
          <a:p>
            <a:r>
              <a:rPr lang="en-US" sz="900" b="0" dirty="0"/>
              <a:t> }</a:t>
            </a:r>
          </a:p>
          <a:p>
            <a:r>
              <a:rPr lang="en-US" sz="900" b="0" dirty="0"/>
              <a:t>},</a:t>
            </a:r>
          </a:p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74596146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Additional Operational Services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B982CC-3D5A-4B24-83AF-9DE4A36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9036"/>
            <a:ext cx="9144000" cy="21553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34F1EB-96E2-42DC-8C2F-4E785CC45C55}"/>
              </a:ext>
            </a:extLst>
          </p:cNvPr>
          <p:cNvSpPr txBox="1"/>
          <p:nvPr/>
        </p:nvSpPr>
        <p:spPr bwMode="auto">
          <a:xfrm>
            <a:off x="228600" y="848392"/>
            <a:ext cx="83820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2060"/>
                </a:solidFill>
                <a:latin typeface="Tekton Pro" pitchFamily="34" charset="0"/>
              </a:rPr>
              <a:t>Too many for this presentation</a:t>
            </a:r>
          </a:p>
          <a:p>
            <a:r>
              <a:rPr lang="en-US" sz="1800" dirty="0">
                <a:solidFill>
                  <a:srgbClr val="002060"/>
                </a:solidFill>
                <a:latin typeface="Tekton Pro" pitchFamily="34" charset="0"/>
              </a:rPr>
              <a:t>But, recommend Change Tracking</a:t>
            </a:r>
            <a:r>
              <a:rPr lang="en-US" dirty="0">
                <a:solidFill>
                  <a:srgbClr val="002060"/>
                </a:solidFill>
                <a:latin typeface="Tekton Pro" pitchFamily="34" charset="0"/>
              </a:rPr>
              <a:t>, Malware Assessment, and Service Map</a:t>
            </a:r>
          </a:p>
          <a:p>
            <a:r>
              <a:rPr lang="en-US" sz="1800" dirty="0">
                <a:solidFill>
                  <a:srgbClr val="002060"/>
                </a:solidFill>
                <a:latin typeface="Tekton Pro" pitchFamily="34" charset="0"/>
              </a:rPr>
              <a:t>Then, application specific such as </a:t>
            </a:r>
            <a:r>
              <a:rPr lang="en-US" dirty="0">
                <a:solidFill>
                  <a:srgbClr val="002060"/>
                </a:solidFill>
                <a:latin typeface="Tekton Pro" pitchFamily="34" charset="0"/>
              </a:rPr>
              <a:t>AD, SQL, and VMWare</a:t>
            </a:r>
            <a:endParaRPr lang="en-US" sz="1800" dirty="0">
              <a:solidFill>
                <a:srgbClr val="002060"/>
              </a:solidFill>
              <a:latin typeface="Tekton Pro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77453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CFE86E-FAEB-46DF-AC72-06E4FE158ECF}"/>
              </a:ext>
            </a:extLst>
          </p:cNvPr>
          <p:cNvSpPr txBox="1"/>
          <p:nvPr/>
        </p:nvSpPr>
        <p:spPr bwMode="auto">
          <a:xfrm>
            <a:off x="493776" y="1047750"/>
            <a:ext cx="54864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2060"/>
                </a:solidFill>
                <a:latin typeface="Tekton Pro" pitchFamily="34" charset="0"/>
              </a:rPr>
              <a:t>Operator User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ekton Pro" pitchFamily="34" charset="0"/>
              </a:rPr>
              <a:t>Explore Azure Portal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ekton Pro" pitchFamily="34" charset="0"/>
              </a:rPr>
              <a:t>WITHOUT LOGGING IN TO A VM: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ekton Pro" pitchFamily="34" charset="0"/>
              </a:rPr>
              <a:t>What is it like to view diagnostic data?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ekton Pro" pitchFamily="34" charset="0"/>
              </a:rPr>
              <a:t>What is it like to deliver updates?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ekton Pro" pitchFamily="34" charset="0"/>
              </a:rPr>
              <a:t>What is it like to run scripts?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ekton Pro" pitchFamily="34" charset="0"/>
              </a:rPr>
              <a:t>What is it like to verify state?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ekton Pro" pitchFamily="34" charset="0"/>
              </a:rPr>
              <a:t>What additional solutions should I consider?</a:t>
            </a:r>
          </a:p>
        </p:txBody>
      </p:sp>
    </p:spTree>
    <p:extLst>
      <p:ext uri="{BB962C8B-B14F-4D97-AF65-F5344CB8AC3E}">
        <p14:creationId xmlns:p14="http://schemas.microsoft.com/office/powerpoint/2010/main" val="1105682510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References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 Pipeline whitepaper</a:t>
            </a:r>
          </a:p>
          <a:p>
            <a:pPr lvl="1"/>
            <a:r>
              <a:rPr lang="en-US" dirty="0"/>
              <a:t>http://aka.ms/thereleasepipelinemodel</a:t>
            </a:r>
          </a:p>
          <a:p>
            <a:r>
              <a:rPr lang="en-US" dirty="0"/>
              <a:t>OMS-All Azure community template</a:t>
            </a:r>
          </a:p>
          <a:p>
            <a:pPr lvl="1"/>
            <a:r>
              <a:rPr lang="en-US" dirty="0">
                <a:hlinkClick r:id="rId2"/>
              </a:rPr>
              <a:t>http://aka.ms/arm-omsall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57150" indent="0">
              <a:buNone/>
            </a:pPr>
            <a:r>
              <a:rPr lang="en-US" b="1" dirty="0"/>
              <a:t>Twitter: @migreene</a:t>
            </a:r>
          </a:p>
        </p:txBody>
      </p:sp>
    </p:spTree>
    <p:extLst>
      <p:ext uri="{BB962C8B-B14F-4D97-AF65-F5344CB8AC3E}">
        <p14:creationId xmlns:p14="http://schemas.microsoft.com/office/powerpoint/2010/main" val="3986541970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85800" y="1218010"/>
            <a:ext cx="7772400" cy="1125140"/>
          </a:xfrm>
        </p:spPr>
        <p:txBody>
          <a:bodyPr/>
          <a:lstStyle/>
          <a:p>
            <a:pPr algn="ctr"/>
            <a:r>
              <a:rPr lang="en-US" sz="2400" i="1" dirty="0">
                <a:solidFill>
                  <a:schemeClr val="accent1"/>
                </a:solidFill>
                <a:latin typeface="+mj-lt"/>
              </a:rPr>
              <a:t>Please use Events XD (</a:t>
            </a:r>
            <a:r>
              <a:rPr lang="en-US" sz="2400" i="1" dirty="0" err="1">
                <a:solidFill>
                  <a:schemeClr val="accent1"/>
                </a:solidFill>
                <a:latin typeface="+mj-lt"/>
              </a:rPr>
              <a:t>EventBoard</a:t>
            </a:r>
            <a:r>
              <a:rPr lang="en-US" sz="2400" i="1" dirty="0">
                <a:solidFill>
                  <a:schemeClr val="accent1"/>
                </a:solidFill>
                <a:latin typeface="+mj-lt"/>
              </a:rPr>
              <a:t>) </a:t>
            </a:r>
            <a:br>
              <a:rPr lang="en-US" sz="2400" i="1" dirty="0">
                <a:solidFill>
                  <a:schemeClr val="accent1"/>
                </a:solidFill>
                <a:latin typeface="+mj-lt"/>
              </a:rPr>
            </a:br>
            <a:r>
              <a:rPr lang="en-US" sz="2400" i="1" dirty="0">
                <a:solidFill>
                  <a:schemeClr val="accent1"/>
                </a:solidFill>
                <a:latin typeface="+mj-lt"/>
              </a:rPr>
              <a:t>to fill out a session evaluation.</a:t>
            </a:r>
            <a:br>
              <a:rPr lang="en-US" sz="2400" i="1" dirty="0">
                <a:solidFill>
                  <a:schemeClr val="accent1"/>
                </a:solidFill>
                <a:latin typeface="+mj-lt"/>
              </a:rPr>
            </a:br>
            <a:endParaRPr lang="en-US" sz="2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571500"/>
            <a:ext cx="7772400" cy="571500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cs typeface="Mangal" pitchFamily="18" charset="0"/>
              </a:rPr>
              <a:t>Questions?</a:t>
            </a:r>
          </a:p>
        </p:txBody>
      </p:sp>
      <p:sp>
        <p:nvSpPr>
          <p:cNvPr id="8" name="Title 3"/>
          <p:cNvSpPr txBox="1">
            <a:spLocks/>
          </p:cNvSpPr>
          <p:nvPr/>
        </p:nvSpPr>
        <p:spPr bwMode="auto">
          <a:xfrm>
            <a:off x="685800" y="2400300"/>
            <a:ext cx="77724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defTabSz="-13873163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yriad Pro" pitchFamily="34" charset="0"/>
                <a:ea typeface="+mj-ea"/>
                <a:cs typeface="Segoe UI" pitchFamily="34" charset="0"/>
              </a:defRPr>
            </a:lvl1pPr>
            <a:lvl2pPr marL="342900" indent="-342900" algn="ctr" defTabSz="-13873163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Myriad Pro" pitchFamily="34" charset="0"/>
                <a:cs typeface="Segoe UI" pitchFamily="34" charset="0"/>
              </a:defRPr>
            </a:lvl2pPr>
            <a:lvl3pPr marL="342900" indent="-342900" algn="ctr" defTabSz="-13873163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Myriad Pro" pitchFamily="34" charset="0"/>
                <a:cs typeface="Segoe UI" pitchFamily="34" charset="0"/>
              </a:defRPr>
            </a:lvl3pPr>
            <a:lvl4pPr marL="342900" indent="-342900" algn="ctr" defTabSz="-13873163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Myriad Pro" pitchFamily="34" charset="0"/>
                <a:cs typeface="Segoe UI" pitchFamily="34" charset="0"/>
              </a:defRPr>
            </a:lvl4pPr>
            <a:lvl5pPr marL="342900" indent="-342900" algn="ctr" defTabSz="-13873163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Myriad Pro" pitchFamily="34" charset="0"/>
                <a:cs typeface="Segoe UI" pitchFamily="34" charset="0"/>
              </a:defRPr>
            </a:lvl5pPr>
            <a:lvl6pPr marL="457200" algn="l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>
                    <a:alpha val="100000"/>
                  </a:schemeClr>
                </a:solidFill>
                <a:latin typeface="Verdana"/>
              </a:defRPr>
            </a:lvl6pPr>
            <a:lvl7pPr marL="914400" algn="l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>
                    <a:alpha val="100000"/>
                  </a:schemeClr>
                </a:solidFill>
                <a:latin typeface="Verdana"/>
              </a:defRPr>
            </a:lvl7pPr>
            <a:lvl8pPr marL="1371600" algn="l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>
                    <a:alpha val="100000"/>
                  </a:schemeClr>
                </a:solidFill>
                <a:latin typeface="Verdana"/>
              </a:defRPr>
            </a:lvl8pPr>
            <a:lvl9pPr marL="1828800" algn="l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>
                    <a:alpha val="100000"/>
                  </a:schemeClr>
                </a:solidFill>
                <a:latin typeface="Verdana"/>
              </a:defRPr>
            </a:lvl9pPr>
          </a:lstStyle>
          <a:p>
            <a:pPr algn="r"/>
            <a:r>
              <a:rPr lang="en-US" sz="48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Mangal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30393154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SQLintersection">
  <a:themeElements>
    <a:clrScheme name="ITtrans">
      <a:dk1>
        <a:srgbClr val="000000"/>
      </a:dk1>
      <a:lt1>
        <a:srgbClr val="FFFFFF"/>
      </a:lt1>
      <a:dk2>
        <a:srgbClr val="B7C5CE"/>
      </a:dk2>
      <a:lt2>
        <a:srgbClr val="C8C8B1"/>
      </a:lt2>
      <a:accent1>
        <a:srgbClr val="006777"/>
      </a:accent1>
      <a:accent2>
        <a:srgbClr val="5AAEA3"/>
      </a:accent2>
      <a:accent3>
        <a:srgbClr val="4F9F9A"/>
      </a:accent3>
      <a:accent4>
        <a:srgbClr val="93BEBA"/>
      </a:accent4>
      <a:accent5>
        <a:srgbClr val="E68A2D"/>
      </a:accent5>
      <a:accent6>
        <a:srgbClr val="F7C477"/>
      </a:accent6>
      <a:hlink>
        <a:srgbClr val="214C59"/>
      </a:hlink>
      <a:folHlink>
        <a:srgbClr val="969696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spDef>
      <a:spPr bwMode="auto">
        <a:gradFill rotWithShape="1">
          <a:gsLst>
            <a:gs pos="0">
              <a:srgbClr val="A4D289"/>
            </a:gs>
            <a:gs pos="100000">
              <a:schemeClr val="bg1"/>
            </a:gs>
          </a:gsLst>
          <a:lin ang="5400000" scaled="1"/>
        </a:gradFill>
        <a:ln w="9525" algn="ctr">
          <a:solidFill>
            <a:schemeClr val="tx1"/>
          </a:solidFill>
          <a:miter lim="800000"/>
          <a:headEnd/>
          <a:tailEnd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wrap="none" anchor="ctr"/>
      <a:lstStyle>
        <a:defPPr>
          <a:defRPr sz="2000" dirty="0">
            <a:latin typeface="Tekton Pro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A4D289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anchor="ctr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None/>
          <a:tabLst/>
          <a:defRPr kumimoji="0" lang="en-US" sz="1600" b="1" i="0" u="none" strike="noStrike" baseline="0">
            <a:solidFill>
              <a:schemeClr val="tx1">
                <a:alpha val="100000"/>
              </a:schemeClr>
            </a:solidFill>
            <a:effectLst/>
            <a:latin typeface="Arial"/>
          </a:defRPr>
        </a:defPPr>
      </a:lstStyle>
    </a:lnDef>
    <a:txDef>
      <a:spPr bwMode="auto">
        <a:noFill/>
        <a:ln w="9525">
          <a:noFill/>
          <a:miter lim="800000"/>
          <a:headEnd/>
          <a:tailEnd/>
        </a:ln>
      </a:spPr>
      <a:bodyPr wrap="none">
        <a:spAutoFit/>
      </a:bodyPr>
      <a:lstStyle>
        <a:defPPr>
          <a:defRPr sz="1800" dirty="0">
            <a:solidFill>
              <a:srgbClr val="002060"/>
            </a:solidFill>
            <a:latin typeface="Tekton Pro" pitchFamily="34" charset="0"/>
          </a:defRPr>
        </a:defPPr>
      </a:lstStyle>
    </a:txDef>
  </a:objectDefaults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65B9DCC8F7FB4A82840FBDE1FC983A" ma:contentTypeVersion="0" ma:contentTypeDescription="Create a new document." ma:contentTypeScope="" ma:versionID="ecd0916681f32cda70880b341f4a8911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1DEB1AF8-B785-4B22-89EC-168618F34A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1685463B-57CE-4CE4-B1CF-FE44EB79BF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498799-B0FC-4B7A-8396-BFC34D805990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1599</TotalTime>
  <Words>2090</Words>
  <Application>Microsoft Office PowerPoint</Application>
  <PresentationFormat>On-screen Show (16:9)</PresentationFormat>
  <Paragraphs>343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Calibri</vt:lpstr>
      <vt:lpstr>Calibri Light</vt:lpstr>
      <vt:lpstr>Consolas</vt:lpstr>
      <vt:lpstr>Mangal</vt:lpstr>
      <vt:lpstr>Myriad Pro</vt:lpstr>
      <vt:lpstr>Segoe UI</vt:lpstr>
      <vt:lpstr>Tekton Pro</vt:lpstr>
      <vt:lpstr>Verdana</vt:lpstr>
      <vt:lpstr>Wingdings</vt:lpstr>
      <vt:lpstr>SQLintersection</vt:lpstr>
      <vt:lpstr> Deploying for Day 100</vt:lpstr>
      <vt:lpstr>Cloud deployment transformation</vt:lpstr>
      <vt:lpstr>Assertion</vt:lpstr>
      <vt:lpstr>Challenges</vt:lpstr>
      <vt:lpstr>Hypothesis</vt:lpstr>
      <vt:lpstr>Sometimes cattle are a little bit pet-like</vt:lpstr>
      <vt:lpstr>Define: deployment</vt:lpstr>
      <vt:lpstr>Map tools to definitions</vt:lpstr>
      <vt:lpstr>Sustainable service roles (&gt;30 days)</vt:lpstr>
      <vt:lpstr>deployment template content</vt:lpstr>
      <vt:lpstr>Operations Management Automation</vt:lpstr>
      <vt:lpstr>ARM sample – Automation Resource type</vt:lpstr>
      <vt:lpstr>ARM sample – Automation resource: variables</vt:lpstr>
      <vt:lpstr>ARM sample – Automation resource: modules</vt:lpstr>
      <vt:lpstr>ARM sample – Automation resource: runbooks</vt:lpstr>
      <vt:lpstr>ARM sample – Automation resource: configuration</vt:lpstr>
      <vt:lpstr>ARM sample – Automation resource: compilation</vt:lpstr>
      <vt:lpstr>Operations Management Log Analytics (OMS Workspace)</vt:lpstr>
      <vt:lpstr>ARM sample – OMS Workspace Resource type</vt:lpstr>
      <vt:lpstr>ARM sample – Workspace resource: datasource</vt:lpstr>
      <vt:lpstr>ARM sample – Workspace resource: savedsearches</vt:lpstr>
      <vt:lpstr>ARM sample – Solution Resource type</vt:lpstr>
      <vt:lpstr>Operations Management Recovery Services</vt:lpstr>
      <vt:lpstr>ARM sample – Recovery Services Resource type</vt:lpstr>
      <vt:lpstr>ARM sample – Recovery Services resource: vault</vt:lpstr>
      <vt:lpstr>Operations Management Update (OMS Workspace)</vt:lpstr>
      <vt:lpstr>ARM sample – OMS Workspace solutions</vt:lpstr>
      <vt:lpstr>Embedded templates</vt:lpstr>
      <vt:lpstr>Additional Operational Services</vt:lpstr>
      <vt:lpstr>DEMO</vt:lpstr>
      <vt:lpstr>References</vt:lpstr>
      <vt:lpstr>Questions?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SQLintersection Session SQL213  Session Name</dc:title>
  <dc:subject>From raw Ajax to ASP.NET</dc:subject>
  <dc:creator>Kimberly L. Tripp</dc:creator>
  <cp:lastModifiedBy>Michael Greene</cp:lastModifiedBy>
  <cp:revision>69</cp:revision>
  <cp:lastPrinted>2012-12-21T20:05:00Z</cp:lastPrinted>
  <dcterms:created xsi:type="dcterms:W3CDTF">2014-10-22T19:18:01Z</dcterms:created>
  <dcterms:modified xsi:type="dcterms:W3CDTF">2017-05-23T18:27:22Z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0x0101003865B9DCC8F7FB4A82840FBDE1FC983A</vt:lpwstr>
  </property>
</Properties>
</file>